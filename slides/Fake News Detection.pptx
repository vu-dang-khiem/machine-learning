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305" r:id="rId3"/>
    <p:sldId id="258" r:id="rId4"/>
    <p:sldId id="257" r:id="rId5"/>
    <p:sldId id="301" r:id="rId6"/>
    <p:sldId id="259" r:id="rId7"/>
    <p:sldId id="260" r:id="rId8"/>
    <p:sldId id="261" r:id="rId9"/>
    <p:sldId id="265" r:id="rId10"/>
    <p:sldId id="296" r:id="rId11"/>
    <p:sldId id="278" r:id="rId12"/>
    <p:sldId id="279" r:id="rId13"/>
    <p:sldId id="262" r:id="rId14"/>
    <p:sldId id="263" r:id="rId15"/>
    <p:sldId id="264" r:id="rId16"/>
    <p:sldId id="267" r:id="rId17"/>
    <p:sldId id="280" r:id="rId18"/>
    <p:sldId id="295" r:id="rId19"/>
    <p:sldId id="297" r:id="rId20"/>
    <p:sldId id="298" r:id="rId21"/>
    <p:sldId id="299" r:id="rId22"/>
    <p:sldId id="300" r:id="rId23"/>
    <p:sldId id="303" r:id="rId24"/>
    <p:sldId id="269" r:id="rId25"/>
    <p:sldId id="266" r:id="rId26"/>
    <p:sldId id="302" r:id="rId27"/>
    <p:sldId id="268" r:id="rId28"/>
    <p:sldId id="271" r:id="rId29"/>
    <p:sldId id="304" r:id="rId30"/>
    <p:sldId id="27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425B66-CA86-4F2C-A26F-14127DCEB7E3}" type="datetimeFigureOut">
              <a:rPr lang="en-US" smtClean="0"/>
              <a:t>12/26/2025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664D8-21A5-4A67-A664-E0113185E48C}" type="slidenum">
              <a:rPr lang="en-US" smtClean="0"/>
              <a:t>‹#›</a:t>
            </a:fld>
            <a:endParaRPr lang="en-US"/>
          </a:p>
        </p:txBody>
      </p:sp>
    </p:spTree>
    <p:extLst>
      <p:ext uri="{BB962C8B-B14F-4D97-AF65-F5344CB8AC3E}">
        <p14:creationId xmlns:p14="http://schemas.microsoft.com/office/powerpoint/2010/main" val="3831576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9D239-FC3D-670C-9AED-20C3D901DD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B1581D2-4A3A-7B9B-FBE0-E6354972FF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37FE19-3FD7-99DA-1D2B-CB1A4BE79769}"/>
              </a:ext>
            </a:extLst>
          </p:cNvPr>
          <p:cNvSpPr>
            <a:spLocks noGrp="1"/>
          </p:cNvSpPr>
          <p:nvPr>
            <p:ph type="dt" sz="half" idx="10"/>
          </p:nvPr>
        </p:nvSpPr>
        <p:spPr/>
        <p:txBody>
          <a:bodyPr/>
          <a:lstStyle/>
          <a:p>
            <a:fld id="{C26792C6-8935-4B20-89AA-134FDE025F3B}" type="datetimeFigureOut">
              <a:rPr lang="en-US" smtClean="0"/>
              <a:t>12/26/2025</a:t>
            </a:fld>
            <a:endParaRPr lang="en-US"/>
          </a:p>
        </p:txBody>
      </p:sp>
      <p:sp>
        <p:nvSpPr>
          <p:cNvPr id="5" name="Footer Placeholder 4">
            <a:extLst>
              <a:ext uri="{FF2B5EF4-FFF2-40B4-BE49-F238E27FC236}">
                <a16:creationId xmlns:a16="http://schemas.microsoft.com/office/drawing/2014/main" id="{EA47ACFB-1B59-CED2-6D83-B47D0F4B1D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B9E669-7B06-4232-46E6-0C5D1C9F041E}"/>
              </a:ext>
            </a:extLst>
          </p:cNvPr>
          <p:cNvSpPr>
            <a:spLocks noGrp="1"/>
          </p:cNvSpPr>
          <p:nvPr>
            <p:ph type="sldNum" sz="quarter" idx="12"/>
          </p:nvPr>
        </p:nvSpPr>
        <p:spPr/>
        <p:txBody>
          <a:bodyPr/>
          <a:lstStyle/>
          <a:p>
            <a:fld id="{CE8ED18D-C6D4-41E8-8113-AC3D45642290}" type="slidenum">
              <a:rPr lang="en-US" smtClean="0"/>
              <a:t>‹#›</a:t>
            </a:fld>
            <a:endParaRPr lang="en-US"/>
          </a:p>
        </p:txBody>
      </p:sp>
    </p:spTree>
    <p:extLst>
      <p:ext uri="{BB962C8B-B14F-4D97-AF65-F5344CB8AC3E}">
        <p14:creationId xmlns:p14="http://schemas.microsoft.com/office/powerpoint/2010/main" val="1554488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923F1-F8A7-742A-6C64-9F52A8ED61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DB2373-155A-CAD1-84CE-8B41953C75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0D6D65-97EE-EAAC-F1C8-116C678046D9}"/>
              </a:ext>
            </a:extLst>
          </p:cNvPr>
          <p:cNvSpPr>
            <a:spLocks noGrp="1"/>
          </p:cNvSpPr>
          <p:nvPr>
            <p:ph type="dt" sz="half" idx="10"/>
          </p:nvPr>
        </p:nvSpPr>
        <p:spPr/>
        <p:txBody>
          <a:bodyPr/>
          <a:lstStyle/>
          <a:p>
            <a:fld id="{C26792C6-8935-4B20-89AA-134FDE025F3B}" type="datetimeFigureOut">
              <a:rPr lang="en-US" smtClean="0"/>
              <a:t>12/26/2025</a:t>
            </a:fld>
            <a:endParaRPr lang="en-US"/>
          </a:p>
        </p:txBody>
      </p:sp>
      <p:sp>
        <p:nvSpPr>
          <p:cNvPr id="5" name="Footer Placeholder 4">
            <a:extLst>
              <a:ext uri="{FF2B5EF4-FFF2-40B4-BE49-F238E27FC236}">
                <a16:creationId xmlns:a16="http://schemas.microsoft.com/office/drawing/2014/main" id="{AB7B0D9C-FCE7-C9B4-3292-21AD2A4C38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605B8B-47E6-187E-211F-410FD3845EF0}"/>
              </a:ext>
            </a:extLst>
          </p:cNvPr>
          <p:cNvSpPr>
            <a:spLocks noGrp="1"/>
          </p:cNvSpPr>
          <p:nvPr>
            <p:ph type="sldNum" sz="quarter" idx="12"/>
          </p:nvPr>
        </p:nvSpPr>
        <p:spPr/>
        <p:txBody>
          <a:bodyPr/>
          <a:lstStyle/>
          <a:p>
            <a:fld id="{CE8ED18D-C6D4-41E8-8113-AC3D45642290}" type="slidenum">
              <a:rPr lang="en-US" smtClean="0"/>
              <a:t>‹#›</a:t>
            </a:fld>
            <a:endParaRPr lang="en-US"/>
          </a:p>
        </p:txBody>
      </p:sp>
    </p:spTree>
    <p:extLst>
      <p:ext uri="{BB962C8B-B14F-4D97-AF65-F5344CB8AC3E}">
        <p14:creationId xmlns:p14="http://schemas.microsoft.com/office/powerpoint/2010/main" val="3696649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9BC3D-47C0-FFF5-F092-FDD41A14F4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B1C817-5777-6EC1-6E13-BA829E3E1C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D93DC4-218F-33FB-6A3B-7D0A88BEF6A7}"/>
              </a:ext>
            </a:extLst>
          </p:cNvPr>
          <p:cNvSpPr>
            <a:spLocks noGrp="1"/>
          </p:cNvSpPr>
          <p:nvPr>
            <p:ph type="dt" sz="half" idx="10"/>
          </p:nvPr>
        </p:nvSpPr>
        <p:spPr/>
        <p:txBody>
          <a:bodyPr/>
          <a:lstStyle/>
          <a:p>
            <a:fld id="{C26792C6-8935-4B20-89AA-134FDE025F3B}" type="datetimeFigureOut">
              <a:rPr lang="en-US" smtClean="0"/>
              <a:t>12/26/2025</a:t>
            </a:fld>
            <a:endParaRPr lang="en-US"/>
          </a:p>
        </p:txBody>
      </p:sp>
      <p:sp>
        <p:nvSpPr>
          <p:cNvPr id="5" name="Footer Placeholder 4">
            <a:extLst>
              <a:ext uri="{FF2B5EF4-FFF2-40B4-BE49-F238E27FC236}">
                <a16:creationId xmlns:a16="http://schemas.microsoft.com/office/drawing/2014/main" id="{E300499D-639B-1A5B-33E1-533BEF607E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2F9BD1-3633-BA9B-A029-3DE2C50748CC}"/>
              </a:ext>
            </a:extLst>
          </p:cNvPr>
          <p:cNvSpPr>
            <a:spLocks noGrp="1"/>
          </p:cNvSpPr>
          <p:nvPr>
            <p:ph type="sldNum" sz="quarter" idx="12"/>
          </p:nvPr>
        </p:nvSpPr>
        <p:spPr/>
        <p:txBody>
          <a:bodyPr/>
          <a:lstStyle/>
          <a:p>
            <a:fld id="{CE8ED18D-C6D4-41E8-8113-AC3D45642290}" type="slidenum">
              <a:rPr lang="en-US" smtClean="0"/>
              <a:t>‹#›</a:t>
            </a:fld>
            <a:endParaRPr lang="en-US"/>
          </a:p>
        </p:txBody>
      </p:sp>
    </p:spTree>
    <p:extLst>
      <p:ext uri="{BB962C8B-B14F-4D97-AF65-F5344CB8AC3E}">
        <p14:creationId xmlns:p14="http://schemas.microsoft.com/office/powerpoint/2010/main" val="1874825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8349F-21BD-341F-D792-A9971B535F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5256CE-0C78-9F68-CC61-3A23FDD579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43D0F1-EF43-86C4-A3B2-0BADE1D770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33015E-33C6-AE6F-D844-C6971B51E44E}"/>
              </a:ext>
            </a:extLst>
          </p:cNvPr>
          <p:cNvSpPr>
            <a:spLocks noGrp="1"/>
          </p:cNvSpPr>
          <p:nvPr>
            <p:ph type="dt" sz="half" idx="10"/>
          </p:nvPr>
        </p:nvSpPr>
        <p:spPr/>
        <p:txBody>
          <a:bodyPr/>
          <a:lstStyle/>
          <a:p>
            <a:fld id="{C26792C6-8935-4B20-89AA-134FDE025F3B}" type="datetimeFigureOut">
              <a:rPr lang="en-US" smtClean="0"/>
              <a:t>12/26/2025</a:t>
            </a:fld>
            <a:endParaRPr lang="en-US"/>
          </a:p>
        </p:txBody>
      </p:sp>
      <p:sp>
        <p:nvSpPr>
          <p:cNvPr id="6" name="Footer Placeholder 5">
            <a:extLst>
              <a:ext uri="{FF2B5EF4-FFF2-40B4-BE49-F238E27FC236}">
                <a16:creationId xmlns:a16="http://schemas.microsoft.com/office/drawing/2014/main" id="{61E05920-8029-B1DB-9F2A-CDBBCB607A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5E9B1A-FC00-5457-BA1B-73FD6E337128}"/>
              </a:ext>
            </a:extLst>
          </p:cNvPr>
          <p:cNvSpPr>
            <a:spLocks noGrp="1"/>
          </p:cNvSpPr>
          <p:nvPr>
            <p:ph type="sldNum" sz="quarter" idx="12"/>
          </p:nvPr>
        </p:nvSpPr>
        <p:spPr/>
        <p:txBody>
          <a:bodyPr/>
          <a:lstStyle/>
          <a:p>
            <a:fld id="{CE8ED18D-C6D4-41E8-8113-AC3D45642290}" type="slidenum">
              <a:rPr lang="en-US" smtClean="0"/>
              <a:t>‹#›</a:t>
            </a:fld>
            <a:endParaRPr lang="en-US"/>
          </a:p>
        </p:txBody>
      </p:sp>
    </p:spTree>
    <p:extLst>
      <p:ext uri="{BB962C8B-B14F-4D97-AF65-F5344CB8AC3E}">
        <p14:creationId xmlns:p14="http://schemas.microsoft.com/office/powerpoint/2010/main" val="2072980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1006E-0810-1BB7-14F9-01A03F98B2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A7F315-5426-5A5B-8ABD-FD3DA5AFEF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F6DE22-7BE7-733E-326E-472CAF7B7D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F7AD60D-1A10-D262-A745-B551B6346F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BB74BB-791B-F1B2-3B5A-6470D22D9A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C5B532D-B879-D08C-27A8-224668B3EC62}"/>
              </a:ext>
            </a:extLst>
          </p:cNvPr>
          <p:cNvSpPr>
            <a:spLocks noGrp="1"/>
          </p:cNvSpPr>
          <p:nvPr>
            <p:ph type="dt" sz="half" idx="10"/>
          </p:nvPr>
        </p:nvSpPr>
        <p:spPr/>
        <p:txBody>
          <a:bodyPr/>
          <a:lstStyle/>
          <a:p>
            <a:fld id="{C26792C6-8935-4B20-89AA-134FDE025F3B}" type="datetimeFigureOut">
              <a:rPr lang="en-US" smtClean="0"/>
              <a:t>12/26/2025</a:t>
            </a:fld>
            <a:endParaRPr lang="en-US"/>
          </a:p>
        </p:txBody>
      </p:sp>
      <p:sp>
        <p:nvSpPr>
          <p:cNvPr id="8" name="Footer Placeholder 7">
            <a:extLst>
              <a:ext uri="{FF2B5EF4-FFF2-40B4-BE49-F238E27FC236}">
                <a16:creationId xmlns:a16="http://schemas.microsoft.com/office/drawing/2014/main" id="{0BF2AD50-5C55-A31D-E434-AFD7CCC1F8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54BD9B-F664-E009-FDAD-4DEEA6DEDA92}"/>
              </a:ext>
            </a:extLst>
          </p:cNvPr>
          <p:cNvSpPr>
            <a:spLocks noGrp="1"/>
          </p:cNvSpPr>
          <p:nvPr>
            <p:ph type="sldNum" sz="quarter" idx="12"/>
          </p:nvPr>
        </p:nvSpPr>
        <p:spPr/>
        <p:txBody>
          <a:bodyPr/>
          <a:lstStyle/>
          <a:p>
            <a:fld id="{CE8ED18D-C6D4-41E8-8113-AC3D45642290}" type="slidenum">
              <a:rPr lang="en-US" smtClean="0"/>
              <a:t>‹#›</a:t>
            </a:fld>
            <a:endParaRPr lang="en-US"/>
          </a:p>
        </p:txBody>
      </p:sp>
    </p:spTree>
    <p:extLst>
      <p:ext uri="{BB962C8B-B14F-4D97-AF65-F5344CB8AC3E}">
        <p14:creationId xmlns:p14="http://schemas.microsoft.com/office/powerpoint/2010/main" val="4200038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EC1AB-6EF8-49C3-50D8-8480EE7BB95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6A7A0C9-C59D-E213-6188-E25FB2B32573}"/>
              </a:ext>
            </a:extLst>
          </p:cNvPr>
          <p:cNvSpPr>
            <a:spLocks noGrp="1"/>
          </p:cNvSpPr>
          <p:nvPr>
            <p:ph type="dt" sz="half" idx="10"/>
          </p:nvPr>
        </p:nvSpPr>
        <p:spPr/>
        <p:txBody>
          <a:bodyPr/>
          <a:lstStyle/>
          <a:p>
            <a:fld id="{C26792C6-8935-4B20-89AA-134FDE025F3B}" type="datetimeFigureOut">
              <a:rPr lang="en-US" smtClean="0"/>
              <a:t>12/26/2025</a:t>
            </a:fld>
            <a:endParaRPr lang="en-US"/>
          </a:p>
        </p:txBody>
      </p:sp>
      <p:sp>
        <p:nvSpPr>
          <p:cNvPr id="4" name="Footer Placeholder 3">
            <a:extLst>
              <a:ext uri="{FF2B5EF4-FFF2-40B4-BE49-F238E27FC236}">
                <a16:creationId xmlns:a16="http://schemas.microsoft.com/office/drawing/2014/main" id="{7FE2B07B-C39D-F838-9DA0-780AE00EA7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C64240-5D22-36AE-3F7E-A16F43B7350F}"/>
              </a:ext>
            </a:extLst>
          </p:cNvPr>
          <p:cNvSpPr>
            <a:spLocks noGrp="1"/>
          </p:cNvSpPr>
          <p:nvPr>
            <p:ph type="sldNum" sz="quarter" idx="12"/>
          </p:nvPr>
        </p:nvSpPr>
        <p:spPr/>
        <p:txBody>
          <a:bodyPr/>
          <a:lstStyle/>
          <a:p>
            <a:fld id="{CE8ED18D-C6D4-41E8-8113-AC3D45642290}" type="slidenum">
              <a:rPr lang="en-US" smtClean="0"/>
              <a:t>‹#›</a:t>
            </a:fld>
            <a:endParaRPr lang="en-US"/>
          </a:p>
        </p:txBody>
      </p:sp>
    </p:spTree>
    <p:extLst>
      <p:ext uri="{BB962C8B-B14F-4D97-AF65-F5344CB8AC3E}">
        <p14:creationId xmlns:p14="http://schemas.microsoft.com/office/powerpoint/2010/main" val="3243964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C91D6-68AA-2CAD-1D2D-9921BC9BAC0B}"/>
              </a:ext>
            </a:extLst>
          </p:cNvPr>
          <p:cNvSpPr>
            <a:spLocks noGrp="1"/>
          </p:cNvSpPr>
          <p:nvPr>
            <p:ph type="dt" sz="half" idx="10"/>
          </p:nvPr>
        </p:nvSpPr>
        <p:spPr/>
        <p:txBody>
          <a:bodyPr/>
          <a:lstStyle/>
          <a:p>
            <a:fld id="{C26792C6-8935-4B20-89AA-134FDE025F3B}" type="datetimeFigureOut">
              <a:rPr lang="en-US" smtClean="0"/>
              <a:t>12/26/2025</a:t>
            </a:fld>
            <a:endParaRPr lang="en-US"/>
          </a:p>
        </p:txBody>
      </p:sp>
      <p:sp>
        <p:nvSpPr>
          <p:cNvPr id="3" name="Footer Placeholder 2">
            <a:extLst>
              <a:ext uri="{FF2B5EF4-FFF2-40B4-BE49-F238E27FC236}">
                <a16:creationId xmlns:a16="http://schemas.microsoft.com/office/drawing/2014/main" id="{8D326BE9-A774-852B-E0DC-288C01ABC3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E5ECFB-ABD0-7B5A-7B92-669560B56D19}"/>
              </a:ext>
            </a:extLst>
          </p:cNvPr>
          <p:cNvSpPr>
            <a:spLocks noGrp="1"/>
          </p:cNvSpPr>
          <p:nvPr>
            <p:ph type="sldNum" sz="quarter" idx="12"/>
          </p:nvPr>
        </p:nvSpPr>
        <p:spPr/>
        <p:txBody>
          <a:bodyPr/>
          <a:lstStyle/>
          <a:p>
            <a:fld id="{CE8ED18D-C6D4-41E8-8113-AC3D45642290}" type="slidenum">
              <a:rPr lang="en-US" smtClean="0"/>
              <a:t>‹#›</a:t>
            </a:fld>
            <a:endParaRPr lang="en-US"/>
          </a:p>
        </p:txBody>
      </p:sp>
    </p:spTree>
    <p:extLst>
      <p:ext uri="{BB962C8B-B14F-4D97-AF65-F5344CB8AC3E}">
        <p14:creationId xmlns:p14="http://schemas.microsoft.com/office/powerpoint/2010/main" val="2462180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4E938-10EB-9253-9122-8D49244BE9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30B3A4-2320-5CE1-B43E-64C20BE118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99FBFD-8F1C-5A00-1DCF-FB1567B266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448D39-C266-F14D-7338-04A678AC196B}"/>
              </a:ext>
            </a:extLst>
          </p:cNvPr>
          <p:cNvSpPr>
            <a:spLocks noGrp="1"/>
          </p:cNvSpPr>
          <p:nvPr>
            <p:ph type="dt" sz="half" idx="10"/>
          </p:nvPr>
        </p:nvSpPr>
        <p:spPr/>
        <p:txBody>
          <a:bodyPr/>
          <a:lstStyle/>
          <a:p>
            <a:fld id="{C26792C6-8935-4B20-89AA-134FDE025F3B}" type="datetimeFigureOut">
              <a:rPr lang="en-US" smtClean="0"/>
              <a:t>12/26/2025</a:t>
            </a:fld>
            <a:endParaRPr lang="en-US"/>
          </a:p>
        </p:txBody>
      </p:sp>
      <p:sp>
        <p:nvSpPr>
          <p:cNvPr id="6" name="Footer Placeholder 5">
            <a:extLst>
              <a:ext uri="{FF2B5EF4-FFF2-40B4-BE49-F238E27FC236}">
                <a16:creationId xmlns:a16="http://schemas.microsoft.com/office/drawing/2014/main" id="{92C53E8A-089E-9ECE-E232-B5A2486FEB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705A1D-2596-3C10-B016-94165DAE00B0}"/>
              </a:ext>
            </a:extLst>
          </p:cNvPr>
          <p:cNvSpPr>
            <a:spLocks noGrp="1"/>
          </p:cNvSpPr>
          <p:nvPr>
            <p:ph type="sldNum" sz="quarter" idx="12"/>
          </p:nvPr>
        </p:nvSpPr>
        <p:spPr/>
        <p:txBody>
          <a:bodyPr/>
          <a:lstStyle/>
          <a:p>
            <a:fld id="{CE8ED18D-C6D4-41E8-8113-AC3D45642290}" type="slidenum">
              <a:rPr lang="en-US" smtClean="0"/>
              <a:t>‹#›</a:t>
            </a:fld>
            <a:endParaRPr lang="en-US"/>
          </a:p>
        </p:txBody>
      </p:sp>
    </p:spTree>
    <p:extLst>
      <p:ext uri="{BB962C8B-B14F-4D97-AF65-F5344CB8AC3E}">
        <p14:creationId xmlns:p14="http://schemas.microsoft.com/office/powerpoint/2010/main" val="4079090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51C30-1067-31C8-A134-C112BD26C5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8A5E5E-FE8E-3C61-1B9D-E3C56BE394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552926-0CDF-917D-742F-7BACFA7206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AEA12D-0002-C917-F8F2-895E62B4BBC1}"/>
              </a:ext>
            </a:extLst>
          </p:cNvPr>
          <p:cNvSpPr>
            <a:spLocks noGrp="1"/>
          </p:cNvSpPr>
          <p:nvPr>
            <p:ph type="dt" sz="half" idx="10"/>
          </p:nvPr>
        </p:nvSpPr>
        <p:spPr/>
        <p:txBody>
          <a:bodyPr/>
          <a:lstStyle/>
          <a:p>
            <a:fld id="{C26792C6-8935-4B20-89AA-134FDE025F3B}" type="datetimeFigureOut">
              <a:rPr lang="en-US" smtClean="0"/>
              <a:t>12/26/2025</a:t>
            </a:fld>
            <a:endParaRPr lang="en-US"/>
          </a:p>
        </p:txBody>
      </p:sp>
      <p:sp>
        <p:nvSpPr>
          <p:cNvPr id="6" name="Footer Placeholder 5">
            <a:extLst>
              <a:ext uri="{FF2B5EF4-FFF2-40B4-BE49-F238E27FC236}">
                <a16:creationId xmlns:a16="http://schemas.microsoft.com/office/drawing/2014/main" id="{13F84498-12D6-B6DE-8002-705637D3D2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D96156-C6A5-3BE0-1BD8-590A30347E79}"/>
              </a:ext>
            </a:extLst>
          </p:cNvPr>
          <p:cNvSpPr>
            <a:spLocks noGrp="1"/>
          </p:cNvSpPr>
          <p:nvPr>
            <p:ph type="sldNum" sz="quarter" idx="12"/>
          </p:nvPr>
        </p:nvSpPr>
        <p:spPr/>
        <p:txBody>
          <a:bodyPr/>
          <a:lstStyle/>
          <a:p>
            <a:fld id="{CE8ED18D-C6D4-41E8-8113-AC3D45642290}" type="slidenum">
              <a:rPr lang="en-US" smtClean="0"/>
              <a:t>‹#›</a:t>
            </a:fld>
            <a:endParaRPr lang="en-US"/>
          </a:p>
        </p:txBody>
      </p:sp>
    </p:spTree>
    <p:extLst>
      <p:ext uri="{BB962C8B-B14F-4D97-AF65-F5344CB8AC3E}">
        <p14:creationId xmlns:p14="http://schemas.microsoft.com/office/powerpoint/2010/main" val="1630911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0D44F-33A6-C175-95F6-8441B666A2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7A221AB-EB51-6B2C-FF80-C9AB8DBAD9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B3FBFB-72FB-BA5C-90A2-A62BAB7687F7}"/>
              </a:ext>
            </a:extLst>
          </p:cNvPr>
          <p:cNvSpPr>
            <a:spLocks noGrp="1"/>
          </p:cNvSpPr>
          <p:nvPr>
            <p:ph type="dt" sz="half" idx="10"/>
          </p:nvPr>
        </p:nvSpPr>
        <p:spPr/>
        <p:txBody>
          <a:bodyPr/>
          <a:lstStyle/>
          <a:p>
            <a:fld id="{C26792C6-8935-4B20-89AA-134FDE025F3B}" type="datetimeFigureOut">
              <a:rPr lang="en-US" smtClean="0"/>
              <a:t>12/26/2025</a:t>
            </a:fld>
            <a:endParaRPr lang="en-US"/>
          </a:p>
        </p:txBody>
      </p:sp>
      <p:sp>
        <p:nvSpPr>
          <p:cNvPr id="5" name="Footer Placeholder 4">
            <a:extLst>
              <a:ext uri="{FF2B5EF4-FFF2-40B4-BE49-F238E27FC236}">
                <a16:creationId xmlns:a16="http://schemas.microsoft.com/office/drawing/2014/main" id="{CB30C35A-D6F5-BB09-63DC-B3FABD6510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BE55EA-726C-A5DA-A0E3-5257512F8D47}"/>
              </a:ext>
            </a:extLst>
          </p:cNvPr>
          <p:cNvSpPr>
            <a:spLocks noGrp="1"/>
          </p:cNvSpPr>
          <p:nvPr>
            <p:ph type="sldNum" sz="quarter" idx="12"/>
          </p:nvPr>
        </p:nvSpPr>
        <p:spPr/>
        <p:txBody>
          <a:bodyPr/>
          <a:lstStyle/>
          <a:p>
            <a:fld id="{CE8ED18D-C6D4-41E8-8113-AC3D45642290}" type="slidenum">
              <a:rPr lang="en-US" smtClean="0"/>
              <a:t>‹#›</a:t>
            </a:fld>
            <a:endParaRPr lang="en-US"/>
          </a:p>
        </p:txBody>
      </p:sp>
    </p:spTree>
    <p:extLst>
      <p:ext uri="{BB962C8B-B14F-4D97-AF65-F5344CB8AC3E}">
        <p14:creationId xmlns:p14="http://schemas.microsoft.com/office/powerpoint/2010/main" val="2874255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9C7477-FFDD-97BC-5FC6-7B05918B92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69D87D-F47C-12BD-3CEA-06127AF50A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9379CA-D615-55C6-2099-4428B865FD65}"/>
              </a:ext>
            </a:extLst>
          </p:cNvPr>
          <p:cNvSpPr>
            <a:spLocks noGrp="1"/>
          </p:cNvSpPr>
          <p:nvPr>
            <p:ph type="dt" sz="half" idx="10"/>
          </p:nvPr>
        </p:nvSpPr>
        <p:spPr/>
        <p:txBody>
          <a:bodyPr/>
          <a:lstStyle/>
          <a:p>
            <a:fld id="{C26792C6-8935-4B20-89AA-134FDE025F3B}" type="datetimeFigureOut">
              <a:rPr lang="en-US" smtClean="0"/>
              <a:t>12/26/2025</a:t>
            </a:fld>
            <a:endParaRPr lang="en-US"/>
          </a:p>
        </p:txBody>
      </p:sp>
      <p:sp>
        <p:nvSpPr>
          <p:cNvPr id="5" name="Footer Placeholder 4">
            <a:extLst>
              <a:ext uri="{FF2B5EF4-FFF2-40B4-BE49-F238E27FC236}">
                <a16:creationId xmlns:a16="http://schemas.microsoft.com/office/drawing/2014/main" id="{34CFA69E-AB61-CEE6-7E0A-4D3612A219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2F3962-9514-308B-C558-07817FF9D18F}"/>
              </a:ext>
            </a:extLst>
          </p:cNvPr>
          <p:cNvSpPr>
            <a:spLocks noGrp="1"/>
          </p:cNvSpPr>
          <p:nvPr>
            <p:ph type="sldNum" sz="quarter" idx="12"/>
          </p:nvPr>
        </p:nvSpPr>
        <p:spPr/>
        <p:txBody>
          <a:bodyPr/>
          <a:lstStyle/>
          <a:p>
            <a:fld id="{CE8ED18D-C6D4-41E8-8113-AC3D45642290}" type="slidenum">
              <a:rPr lang="en-US" smtClean="0"/>
              <a:t>‹#›</a:t>
            </a:fld>
            <a:endParaRPr lang="en-US"/>
          </a:p>
        </p:txBody>
      </p:sp>
    </p:spTree>
    <p:extLst>
      <p:ext uri="{BB962C8B-B14F-4D97-AF65-F5344CB8AC3E}">
        <p14:creationId xmlns:p14="http://schemas.microsoft.com/office/powerpoint/2010/main" val="3010772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B9700F-8E54-B120-0100-51FBA1FB3A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6C7F80-B9E1-5B1C-D341-555FA738DE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3D9B45-8B61-7CCB-8138-1329AA5052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6792C6-8935-4B20-89AA-134FDE025F3B}" type="datetimeFigureOut">
              <a:rPr lang="en-US" smtClean="0"/>
              <a:t>12/26/2025</a:t>
            </a:fld>
            <a:endParaRPr lang="en-US"/>
          </a:p>
        </p:txBody>
      </p:sp>
      <p:sp>
        <p:nvSpPr>
          <p:cNvPr id="5" name="Footer Placeholder 4">
            <a:extLst>
              <a:ext uri="{FF2B5EF4-FFF2-40B4-BE49-F238E27FC236}">
                <a16:creationId xmlns:a16="http://schemas.microsoft.com/office/drawing/2014/main" id="{41726BF4-E682-87F9-7C29-4523BD25B8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896CCB5-3DB3-8A2A-F512-E1690E26C5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8ED18D-C6D4-41E8-8113-AC3D45642290}" type="slidenum">
              <a:rPr lang="en-US" smtClean="0"/>
              <a:t>‹#›</a:t>
            </a:fld>
            <a:endParaRPr lang="en-US"/>
          </a:p>
        </p:txBody>
      </p:sp>
    </p:spTree>
    <p:extLst>
      <p:ext uri="{BB962C8B-B14F-4D97-AF65-F5344CB8AC3E}">
        <p14:creationId xmlns:p14="http://schemas.microsoft.com/office/powerpoint/2010/main" val="707409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www.kaggle.com/datasets/goumanguyen/vietnamese-fake-news-dataset-pbl7"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511F61-6214-9C6C-FC91-36D0FBC9A2BE}"/>
              </a:ext>
            </a:extLst>
          </p:cNvPr>
          <p:cNvSpPr txBox="1"/>
          <p:nvPr/>
        </p:nvSpPr>
        <p:spPr>
          <a:xfrm>
            <a:off x="1917290" y="2382849"/>
            <a:ext cx="8091948" cy="630942"/>
          </a:xfrm>
          <a:prstGeom prst="rect">
            <a:avLst/>
          </a:prstGeom>
          <a:noFill/>
        </p:spPr>
        <p:txBody>
          <a:bodyPr wrap="square" rtlCol="0">
            <a:spAutoFit/>
          </a:bodyPr>
          <a:lstStyle/>
          <a:p>
            <a:pPr algn="ctr"/>
            <a:r>
              <a:rPr lang="en-US" sz="3500">
                <a:latin typeface="Times New Roman" panose="02020603050405020304" pitchFamily="18" charset="0"/>
                <a:cs typeface="Times New Roman" panose="02020603050405020304" pitchFamily="18" charset="0"/>
              </a:rPr>
              <a:t>Phát hiện Fake News</a:t>
            </a:r>
          </a:p>
        </p:txBody>
      </p:sp>
      <p:sp>
        <p:nvSpPr>
          <p:cNvPr id="5" name="TextBox 4">
            <a:extLst>
              <a:ext uri="{FF2B5EF4-FFF2-40B4-BE49-F238E27FC236}">
                <a16:creationId xmlns:a16="http://schemas.microsoft.com/office/drawing/2014/main" id="{193EE332-FB08-0C36-ECB2-BC901D36236E}"/>
              </a:ext>
            </a:extLst>
          </p:cNvPr>
          <p:cNvSpPr txBox="1"/>
          <p:nvPr/>
        </p:nvSpPr>
        <p:spPr>
          <a:xfrm>
            <a:off x="3480308" y="3628103"/>
            <a:ext cx="4965911" cy="769441"/>
          </a:xfrm>
          <a:prstGeom prst="rect">
            <a:avLst/>
          </a:prstGeom>
          <a:noFill/>
        </p:spPr>
        <p:txBody>
          <a:bodyPr wrap="none" rtlCol="0">
            <a:spAutoFit/>
          </a:bodyPr>
          <a:lstStyle/>
          <a:p>
            <a:pPr algn="ctr"/>
            <a:r>
              <a:rPr lang="en-US" sz="2200">
                <a:latin typeface="Times New Roman" panose="02020603050405020304" pitchFamily="18" charset="0"/>
                <a:cs typeface="Times New Roman" panose="02020603050405020304" pitchFamily="18" charset="0"/>
              </a:rPr>
              <a:t>By: Dang Khiem - Vu</a:t>
            </a:r>
          </a:p>
          <a:p>
            <a:pPr algn="ctr"/>
            <a:r>
              <a:rPr lang="en-US" sz="2200">
                <a:latin typeface="Times New Roman" panose="02020603050405020304" pitchFamily="18" charset="0"/>
                <a:cs typeface="Times New Roman" panose="02020603050405020304" pitchFamily="18" charset="0"/>
              </a:rPr>
              <a:t>GV hướng dẫn: PGS.TS Nguyễn Văn Hậu</a:t>
            </a:r>
          </a:p>
        </p:txBody>
      </p:sp>
    </p:spTree>
    <p:extLst>
      <p:ext uri="{BB962C8B-B14F-4D97-AF65-F5344CB8AC3E}">
        <p14:creationId xmlns:p14="http://schemas.microsoft.com/office/powerpoint/2010/main" val="3071209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3E6D5-6038-23B6-4D7F-39F48E4DB0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E3B4FA-696E-6235-7EEA-2B18525960FB}"/>
              </a:ext>
            </a:extLst>
          </p:cNvPr>
          <p:cNvSpPr txBox="1"/>
          <p:nvPr/>
        </p:nvSpPr>
        <p:spPr>
          <a:xfrm>
            <a:off x="382269" y="271954"/>
            <a:ext cx="3677610" cy="5909310"/>
          </a:xfrm>
          <a:prstGeom prst="rect">
            <a:avLst/>
          </a:prstGeom>
          <a:noFill/>
        </p:spPr>
        <p:txBody>
          <a:bodyPr wrap="none" rtlCol="0">
            <a:spAutoFit/>
          </a:bodyPr>
          <a:lstStyle/>
          <a:p>
            <a:r>
              <a:rPr lang="en-US" sz="3000" b="1">
                <a:latin typeface="Times New Roman" panose="02020603050405020304" pitchFamily="18" charset="0"/>
                <a:cs typeface="Times New Roman" panose="02020603050405020304" pitchFamily="18" charset="0"/>
              </a:rPr>
              <a:t>Nội dung</a:t>
            </a:r>
          </a:p>
          <a:p>
            <a:endParaRPr lang="en-US" sz="3000" b="1">
              <a:latin typeface="Times New Roman" panose="02020603050405020304" pitchFamily="18" charset="0"/>
              <a:cs typeface="Times New Roman" panose="02020603050405020304" pitchFamily="18" charset="0"/>
            </a:endParaRPr>
          </a:p>
          <a:p>
            <a:pPr marL="342900" indent="-342900">
              <a:lnSpc>
                <a:spcPct val="150000"/>
              </a:lnSpc>
              <a:buAutoNum type="arabicPeriod"/>
            </a:pPr>
            <a:r>
              <a:rPr lang="en-US" sz="2500">
                <a:latin typeface="Times New Roman" panose="02020603050405020304" pitchFamily="18" charset="0"/>
                <a:cs typeface="Times New Roman" panose="02020603050405020304" pitchFamily="18" charset="0"/>
              </a:rPr>
              <a:t>Lý cho chọn đề tài</a:t>
            </a:r>
          </a:p>
          <a:p>
            <a:pPr marL="342900" indent="-342900">
              <a:lnSpc>
                <a:spcPct val="150000"/>
              </a:lnSpc>
              <a:buAutoNum type="arabicPeriod"/>
            </a:pPr>
            <a:r>
              <a:rPr lang="en-US" sz="2500">
                <a:latin typeface="Times New Roman" panose="02020603050405020304" pitchFamily="18" charset="0"/>
                <a:cs typeface="Times New Roman" panose="02020603050405020304" pitchFamily="18" charset="0"/>
              </a:rPr>
              <a:t>Giới thiệu dataset</a:t>
            </a:r>
          </a:p>
          <a:p>
            <a:pPr marL="342900" indent="-342900">
              <a:lnSpc>
                <a:spcPct val="150000"/>
              </a:lnSpc>
              <a:buAutoNum type="arabicPeriod"/>
            </a:pPr>
            <a:r>
              <a:rPr lang="en-US" sz="2500">
                <a:latin typeface="Times New Roman" panose="02020603050405020304" pitchFamily="18" charset="0"/>
                <a:cs typeface="Times New Roman" panose="02020603050405020304" pitchFamily="18" charset="0"/>
              </a:rPr>
              <a:t>Tiền xử lý dữ liệu</a:t>
            </a:r>
          </a:p>
          <a:p>
            <a:pPr marL="342900" indent="-342900">
              <a:lnSpc>
                <a:spcPct val="150000"/>
              </a:lnSpc>
              <a:buAutoNum type="arabicPeriod"/>
            </a:pPr>
            <a:r>
              <a:rPr lang="en-US" sz="2500">
                <a:latin typeface="Times New Roman" panose="02020603050405020304" pitchFamily="18" charset="0"/>
                <a:cs typeface="Times New Roman" panose="02020603050405020304" pitchFamily="18" charset="0"/>
              </a:rPr>
              <a:t>Ứng dụng mô hình</a:t>
            </a:r>
          </a:p>
          <a:p>
            <a:pPr marL="342900" indent="-342900">
              <a:lnSpc>
                <a:spcPct val="150000"/>
              </a:lnSpc>
              <a:buAutoNum type="arabicPeriod"/>
            </a:pPr>
            <a:r>
              <a:rPr lang="en-US" sz="2500">
                <a:latin typeface="Times New Roman" panose="02020603050405020304" pitchFamily="18" charset="0"/>
                <a:cs typeface="Times New Roman" panose="02020603050405020304" pitchFamily="18" charset="0"/>
              </a:rPr>
              <a:t>Chỉ số đánh giá mô hình</a:t>
            </a:r>
          </a:p>
          <a:p>
            <a:pPr marL="342900" indent="-342900">
              <a:lnSpc>
                <a:spcPct val="150000"/>
              </a:lnSpc>
              <a:buAutoNum type="arabicPeriod"/>
            </a:pPr>
            <a:r>
              <a:rPr lang="en-US" sz="2500">
                <a:latin typeface="Times New Roman" panose="02020603050405020304" pitchFamily="18" charset="0"/>
                <a:cs typeface="Times New Roman" panose="02020603050405020304" pitchFamily="18" charset="0"/>
              </a:rPr>
              <a:t>Đánh giá mô hình</a:t>
            </a:r>
          </a:p>
          <a:p>
            <a:pPr marL="342900" indent="-342900">
              <a:lnSpc>
                <a:spcPct val="150000"/>
              </a:lnSpc>
              <a:buAutoNum type="arabicPeriod"/>
            </a:pPr>
            <a:r>
              <a:rPr lang="en-US" sz="2500">
                <a:latin typeface="Times New Roman" panose="02020603050405020304" pitchFamily="18" charset="0"/>
                <a:cs typeface="Times New Roman" panose="02020603050405020304" pitchFamily="18" charset="0"/>
              </a:rPr>
              <a:t>So sánh mô hình</a:t>
            </a:r>
          </a:p>
          <a:p>
            <a:pPr marL="342900" indent="-342900">
              <a:lnSpc>
                <a:spcPct val="150000"/>
              </a:lnSpc>
              <a:buAutoNum type="arabicPeriod"/>
            </a:pPr>
            <a:r>
              <a:rPr lang="en-US" sz="2500">
                <a:latin typeface="Times New Roman" panose="02020603050405020304" pitchFamily="18" charset="0"/>
                <a:cs typeface="Times New Roman" panose="02020603050405020304" pitchFamily="18" charset="0"/>
              </a:rPr>
              <a:t>Demo</a:t>
            </a:r>
          </a:p>
          <a:p>
            <a:pPr marL="342900" indent="-342900">
              <a:buAutoNum type="arabicPeriod"/>
            </a:pP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725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0F526-12C4-E05A-3C4C-205BEC7D52E3}"/>
            </a:ext>
          </a:extLst>
        </p:cNvPr>
        <p:cNvGrpSpPr/>
        <p:nvPr/>
      </p:nvGrpSpPr>
      <p:grpSpPr>
        <a:xfrm>
          <a:off x="0" y="0"/>
          <a:ext cx="0" cy="0"/>
          <a:chOff x="0" y="0"/>
          <a:chExt cx="0" cy="0"/>
        </a:xfrm>
      </p:grpSpPr>
      <p:pic>
        <p:nvPicPr>
          <p:cNvPr id="2050" name="Picture 2" descr="Fake News Detection Dataset">
            <a:extLst>
              <a:ext uri="{FF2B5EF4-FFF2-40B4-BE49-F238E27FC236}">
                <a16:creationId xmlns:a16="http://schemas.microsoft.com/office/drawing/2014/main" id="{4272DE6B-8B11-6E4E-7C18-CF9E06C41A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6719" y="2723536"/>
            <a:ext cx="7553325" cy="3810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2402682-D4AB-1699-B877-7E089EFE8EB4}"/>
              </a:ext>
            </a:extLst>
          </p:cNvPr>
          <p:cNvSpPr txBox="1"/>
          <p:nvPr/>
        </p:nvSpPr>
        <p:spPr>
          <a:xfrm>
            <a:off x="275301" y="324464"/>
            <a:ext cx="11808543" cy="2015936"/>
          </a:xfrm>
          <a:prstGeom prst="rect">
            <a:avLst/>
          </a:prstGeom>
          <a:noFill/>
        </p:spPr>
        <p:txBody>
          <a:bodyPr wrap="square">
            <a:spAutoFit/>
          </a:bodyPr>
          <a:lstStyle/>
          <a:p>
            <a:r>
              <a:rPr lang="en-US" sz="2500" b="1">
                <a:latin typeface="Times New Roman" panose="02020603050405020304" pitchFamily="18" charset="0"/>
                <a:cs typeface="Times New Roman" panose="02020603050405020304" pitchFamily="18" charset="0"/>
              </a:rPr>
              <a:t>Fake News là gì?</a:t>
            </a:r>
          </a:p>
          <a:p>
            <a:r>
              <a:rPr lang="vi-VN" sz="2500">
                <a:latin typeface="Times New Roman" panose="02020603050405020304" pitchFamily="18" charset="0"/>
                <a:cs typeface="Times New Roman" panose="02020603050405020304" pitchFamily="18" charset="0"/>
              </a:rPr>
              <a:t>Fake news (tin </a:t>
            </a:r>
            <a:r>
              <a:rPr lang="en-US" sz="2500">
                <a:latin typeface="Times New Roman" panose="02020603050405020304" pitchFamily="18" charset="0"/>
                <a:cs typeface="Times New Roman" panose="02020603050405020304" pitchFamily="18" charset="0"/>
              </a:rPr>
              <a:t>giả)</a:t>
            </a:r>
            <a:r>
              <a:rPr lang="vi-VN" sz="2500">
                <a:effectLst/>
                <a:latin typeface="Times New Roman" panose="02020603050405020304" pitchFamily="18" charset="0"/>
                <a:cs typeface="Times New Roman" panose="02020603050405020304" pitchFamily="18" charset="0"/>
              </a:rPr>
              <a:t> là những thông tin sai sự thật, bịa đặt hoặc gây hiểu lầm, được cố tình lan truyền qua các phương tiện truyền thông hoặc mạng xã hội nhằm mục đích gây giật gân, thao túng dư luận, thu lợi kinh tế, hoặc phục vụ mục đích chính trị/xấu xa, bắt chước hình thức tin tức chính thống nhưng không được kiểm chứng</a:t>
            </a:r>
            <a:endParaRPr lang="en-US" sz="25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4894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60D41-CF97-1586-6C46-687D7FAC5D6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26259C3-CF3B-64F7-1AFC-72259259DE79}"/>
              </a:ext>
            </a:extLst>
          </p:cNvPr>
          <p:cNvSpPr txBox="1"/>
          <p:nvPr/>
        </p:nvSpPr>
        <p:spPr>
          <a:xfrm>
            <a:off x="235974" y="344129"/>
            <a:ext cx="11062837" cy="4893647"/>
          </a:xfrm>
          <a:prstGeom prst="rect">
            <a:avLst/>
          </a:prstGeom>
          <a:noFill/>
        </p:spPr>
        <p:txBody>
          <a:bodyPr wrap="none" rtlCol="0">
            <a:spAutoFit/>
          </a:bodyPr>
          <a:lstStyle/>
          <a:p>
            <a:r>
              <a:rPr lang="en-US" sz="3500">
                <a:latin typeface="Times New Roman" panose="02020603050405020304" pitchFamily="18" charset="0"/>
                <a:cs typeface="Times New Roman" panose="02020603050405020304" pitchFamily="18" charset="0"/>
              </a:rPr>
              <a:t>Lý do chọn đề tài?</a:t>
            </a:r>
          </a:p>
          <a:p>
            <a:pPr>
              <a:lnSpc>
                <a:spcPct val="150000"/>
              </a:lnSpc>
            </a:pPr>
            <a:r>
              <a:rPr lang="en-US" sz="2800">
                <a:latin typeface="Times New Roman" panose="02020603050405020304" pitchFamily="18" charset="0"/>
                <a:cs typeface="Times New Roman" panose="02020603050405020304" pitchFamily="18" charset="0"/>
              </a:rPr>
              <a:t>- Vấn đề:</a:t>
            </a:r>
            <a:br>
              <a:rPr lang="en-US" sz="2800">
                <a:latin typeface="Times New Roman" panose="02020603050405020304" pitchFamily="18" charset="0"/>
                <a:cs typeface="Times New Roman" panose="02020603050405020304" pitchFamily="18" charset="0"/>
              </a:rPr>
            </a:br>
            <a:r>
              <a:rPr lang="en-US" altLang="en-US" sz="2800">
                <a:latin typeface="Times New Roman" panose="02020603050405020304" pitchFamily="18" charset="0"/>
                <a:cs typeface="Times New Roman" panose="02020603050405020304" pitchFamily="18" charset="0"/>
              </a:rPr>
              <a:t>Tin giả (Fake News) xuất hiện ngày càng nhiều trên các nền tảng trực tuyến</a:t>
            </a:r>
          </a:p>
          <a:p>
            <a:pPr lvl="0" eaLnBrk="0" fontAlgn="base" hangingPunct="0">
              <a:lnSpc>
                <a:spcPct val="150000"/>
              </a:lnSpc>
              <a:spcBef>
                <a:spcPct val="0"/>
              </a:spcBef>
              <a:spcAft>
                <a:spcPct val="0"/>
              </a:spcAft>
              <a:buFontTx/>
              <a:buChar char="•"/>
            </a:pPr>
            <a:r>
              <a:rPr lang="en-US" altLang="en-US" sz="2800">
                <a:latin typeface="Times New Roman" panose="02020603050405020304" pitchFamily="18" charset="0"/>
                <a:cs typeface="Times New Roman" panose="02020603050405020304" pitchFamily="18" charset="0"/>
              </a:rPr>
              <a:t> Thông tin sai lệch gây ảnh hưởng tiêu cực đến:</a:t>
            </a:r>
          </a:p>
          <a:p>
            <a:pPr lvl="0" eaLnBrk="0" fontAlgn="base" hangingPunct="0">
              <a:lnSpc>
                <a:spcPct val="150000"/>
              </a:lnSpc>
              <a:spcBef>
                <a:spcPct val="0"/>
              </a:spcBef>
              <a:spcAft>
                <a:spcPct val="0"/>
              </a:spcAft>
              <a:buFontTx/>
              <a:buChar char="•"/>
            </a:pPr>
            <a:r>
              <a:rPr lang="en-US" altLang="en-US" sz="2800">
                <a:latin typeface="Times New Roman" panose="02020603050405020304" pitchFamily="18" charset="0"/>
                <a:cs typeface="Times New Roman" panose="02020603050405020304" pitchFamily="18" charset="0"/>
              </a:rPr>
              <a:t> Nhận thức của người đọc</a:t>
            </a:r>
          </a:p>
          <a:p>
            <a:pPr lvl="0" eaLnBrk="0" fontAlgn="base" hangingPunct="0">
              <a:lnSpc>
                <a:spcPct val="150000"/>
              </a:lnSpc>
              <a:spcBef>
                <a:spcPct val="0"/>
              </a:spcBef>
              <a:spcAft>
                <a:spcPct val="0"/>
              </a:spcAft>
              <a:buFontTx/>
              <a:buChar char="•"/>
            </a:pPr>
            <a:r>
              <a:rPr lang="en-US" altLang="en-US" sz="2800">
                <a:latin typeface="Times New Roman" panose="02020603050405020304" pitchFamily="18" charset="0"/>
                <a:cs typeface="Times New Roman" panose="02020603050405020304" pitchFamily="18" charset="0"/>
              </a:rPr>
              <a:t> Trật tự xã hội</a:t>
            </a:r>
          </a:p>
          <a:p>
            <a:pPr lvl="0" eaLnBrk="0" fontAlgn="base" hangingPunct="0">
              <a:lnSpc>
                <a:spcPct val="150000"/>
              </a:lnSpc>
              <a:spcBef>
                <a:spcPct val="0"/>
              </a:spcBef>
              <a:spcAft>
                <a:spcPct val="0"/>
              </a:spcAft>
              <a:buFontTx/>
              <a:buChar char="•"/>
            </a:pPr>
            <a:r>
              <a:rPr lang="en-US" altLang="en-US" sz="2800">
                <a:latin typeface="Times New Roman" panose="02020603050405020304" pitchFamily="18" charset="0"/>
                <a:cs typeface="Times New Roman" panose="02020603050405020304" pitchFamily="18" charset="0"/>
              </a:rPr>
              <a:t> Niềm tin vào báo chí chính thống</a:t>
            </a:r>
          </a:p>
          <a:p>
            <a:pPr lvl="0" eaLnBrk="0" fontAlgn="base" hangingPunct="0">
              <a:spcBef>
                <a:spcPct val="0"/>
              </a:spcBef>
              <a:spcAft>
                <a:spcPct val="0"/>
              </a:spcAft>
            </a:pPr>
            <a:endParaRPr lang="en-US" altLang="en-US" sz="25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7316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0AE36-DA65-85E4-35C8-B3A5E0D50A5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5B3A4CC-E212-17D5-DAC3-BDA7D34799E3}"/>
              </a:ext>
            </a:extLst>
          </p:cNvPr>
          <p:cNvSpPr txBox="1"/>
          <p:nvPr/>
        </p:nvSpPr>
        <p:spPr>
          <a:xfrm>
            <a:off x="196645" y="629264"/>
            <a:ext cx="12093760" cy="4164345"/>
          </a:xfrm>
          <a:prstGeom prst="rect">
            <a:avLst/>
          </a:prstGeom>
          <a:noFill/>
        </p:spPr>
        <p:txBody>
          <a:bodyPr wrap="none" rtlCol="0">
            <a:spAutoFit/>
          </a:bodyPr>
          <a:lstStyle/>
          <a:p>
            <a:pPr marL="285750" indent="-285750">
              <a:lnSpc>
                <a:spcPct val="150000"/>
              </a:lnSpc>
              <a:buFontTx/>
              <a:buChar char="-"/>
            </a:pPr>
            <a:r>
              <a:rPr lang="en-US" sz="3000">
                <a:latin typeface="Times New Roman" panose="02020603050405020304" pitchFamily="18" charset="0"/>
                <a:cs typeface="Times New Roman" panose="02020603050405020304" pitchFamily="18" charset="0"/>
              </a:rPr>
              <a:t>Khó khăn :</a:t>
            </a:r>
          </a:p>
          <a:p>
            <a:pPr lvl="0" eaLnBrk="0" fontAlgn="base" hangingPunct="0">
              <a:lnSpc>
                <a:spcPct val="150000"/>
              </a:lnSpc>
              <a:spcBef>
                <a:spcPct val="0"/>
              </a:spcBef>
              <a:spcAft>
                <a:spcPct val="0"/>
              </a:spcAft>
              <a:buFontTx/>
              <a:buChar char="•"/>
            </a:pPr>
            <a:r>
              <a:rPr lang="en-US" altLang="en-US" sz="3000">
                <a:latin typeface="Times New Roman" panose="02020603050405020304" pitchFamily="18" charset="0"/>
                <a:cs typeface="Times New Roman" panose="02020603050405020304" pitchFamily="18" charset="0"/>
              </a:rPr>
              <a:t> Tin giả (Fake News) xuất hiện ngày càng nhiều trên các nền tảng trực tuyến</a:t>
            </a:r>
          </a:p>
          <a:p>
            <a:pPr lvl="0" eaLnBrk="0" fontAlgn="base" hangingPunct="0">
              <a:lnSpc>
                <a:spcPct val="150000"/>
              </a:lnSpc>
              <a:spcBef>
                <a:spcPct val="0"/>
              </a:spcBef>
              <a:spcAft>
                <a:spcPct val="0"/>
              </a:spcAft>
              <a:buFontTx/>
              <a:buChar char="•"/>
            </a:pPr>
            <a:r>
              <a:rPr lang="en-US" altLang="en-US" sz="3000">
                <a:latin typeface="Times New Roman" panose="02020603050405020304" pitchFamily="18" charset="0"/>
                <a:cs typeface="Times New Roman" panose="02020603050405020304" pitchFamily="18" charset="0"/>
              </a:rPr>
              <a:t> Thông tin sai lệch gây ảnh hưởng tiêu cực đến:</a:t>
            </a:r>
          </a:p>
          <a:p>
            <a:pPr lvl="0" eaLnBrk="0" fontAlgn="base" hangingPunct="0">
              <a:lnSpc>
                <a:spcPct val="150000"/>
              </a:lnSpc>
              <a:spcBef>
                <a:spcPct val="0"/>
              </a:spcBef>
              <a:spcAft>
                <a:spcPct val="0"/>
              </a:spcAft>
              <a:buFontTx/>
              <a:buChar char="•"/>
            </a:pPr>
            <a:r>
              <a:rPr lang="en-US" altLang="en-US" sz="3000">
                <a:latin typeface="Times New Roman" panose="02020603050405020304" pitchFamily="18" charset="0"/>
                <a:cs typeface="Times New Roman" panose="02020603050405020304" pitchFamily="18" charset="0"/>
              </a:rPr>
              <a:t> Nhận thức của người đọc</a:t>
            </a:r>
          </a:p>
          <a:p>
            <a:pPr lvl="0" eaLnBrk="0" fontAlgn="base" hangingPunct="0">
              <a:lnSpc>
                <a:spcPct val="150000"/>
              </a:lnSpc>
              <a:spcBef>
                <a:spcPct val="0"/>
              </a:spcBef>
              <a:spcAft>
                <a:spcPct val="0"/>
              </a:spcAft>
              <a:buFontTx/>
              <a:buChar char="•"/>
            </a:pPr>
            <a:r>
              <a:rPr lang="en-US" altLang="en-US" sz="3000">
                <a:latin typeface="Times New Roman" panose="02020603050405020304" pitchFamily="18" charset="0"/>
                <a:cs typeface="Times New Roman" panose="02020603050405020304" pitchFamily="18" charset="0"/>
              </a:rPr>
              <a:t> Trật tự xã hội</a:t>
            </a:r>
          </a:p>
          <a:p>
            <a:pPr lvl="0" eaLnBrk="0" fontAlgn="base" hangingPunct="0">
              <a:lnSpc>
                <a:spcPct val="150000"/>
              </a:lnSpc>
              <a:spcBef>
                <a:spcPct val="0"/>
              </a:spcBef>
              <a:spcAft>
                <a:spcPct val="0"/>
              </a:spcAft>
              <a:buFontTx/>
              <a:buChar char="•"/>
            </a:pPr>
            <a:r>
              <a:rPr lang="en-US" altLang="en-US" sz="3000">
                <a:latin typeface="Times New Roman" panose="02020603050405020304" pitchFamily="18" charset="0"/>
                <a:cs typeface="Times New Roman" panose="02020603050405020304" pitchFamily="18" charset="0"/>
              </a:rPr>
              <a:t> Niềm tin vào báo chí chính thống</a:t>
            </a:r>
          </a:p>
        </p:txBody>
      </p:sp>
    </p:spTree>
    <p:extLst>
      <p:ext uri="{BB962C8B-B14F-4D97-AF65-F5344CB8AC3E}">
        <p14:creationId xmlns:p14="http://schemas.microsoft.com/office/powerpoint/2010/main" val="30854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7252F-3D71-11AC-D6A2-72F01130BA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98D3AD-CCDB-711C-6F5A-8EC5D2FB472D}"/>
              </a:ext>
            </a:extLst>
          </p:cNvPr>
          <p:cNvSpPr txBox="1"/>
          <p:nvPr/>
        </p:nvSpPr>
        <p:spPr>
          <a:xfrm>
            <a:off x="412955" y="285135"/>
            <a:ext cx="11198942" cy="6038641"/>
          </a:xfrm>
          <a:prstGeom prst="rect">
            <a:avLst/>
          </a:prstGeom>
          <a:noFill/>
        </p:spPr>
        <p:txBody>
          <a:bodyPr wrap="square" rtlCol="0">
            <a:spAutoFit/>
          </a:bodyPr>
          <a:lstStyle/>
          <a:p>
            <a:pPr>
              <a:lnSpc>
                <a:spcPct val="150000"/>
              </a:lnSpc>
            </a:pPr>
            <a:r>
              <a:rPr lang="en-US" sz="2000">
                <a:latin typeface="Times New Roman" panose="02020603050405020304" pitchFamily="18" charset="0"/>
                <a:cs typeface="Times New Roman" panose="02020603050405020304" pitchFamily="18" charset="0"/>
              </a:rPr>
              <a:t>Dataset:</a:t>
            </a:r>
          </a:p>
          <a:p>
            <a:pPr>
              <a:lnSpc>
                <a:spcPct val="150000"/>
              </a:lnSpc>
            </a:pPr>
            <a:r>
              <a:rPr lang="en-US" sz="2000" b="1">
                <a:latin typeface="Times New Roman" panose="02020603050405020304" pitchFamily="18" charset="0"/>
                <a:cs typeface="Times New Roman" panose="02020603050405020304" pitchFamily="18" charset="0"/>
              </a:rPr>
              <a:t>Vietnamese Fake-News-Dataset-PBL7</a:t>
            </a:r>
          </a:p>
          <a:p>
            <a:pPr>
              <a:lnSpc>
                <a:spcPct val="150000"/>
              </a:lnSpc>
            </a:pPr>
            <a:r>
              <a:rPr lang="en-US" sz="2000">
                <a:latin typeface="Times New Roman" panose="02020603050405020304" pitchFamily="18" charset="0"/>
                <a:cs typeface="Times New Roman" panose="02020603050405020304" pitchFamily="18" charset="0"/>
              </a:rPr>
              <a:t>Gồm 1.181 bài báo đã được gán nhãn:</a:t>
            </a:r>
          </a:p>
          <a:p>
            <a:pPr>
              <a:lnSpc>
                <a:spcPct val="150000"/>
              </a:lnSpc>
            </a:pPr>
            <a:r>
              <a:rPr lang="en-US" sz="2000">
                <a:latin typeface="Times New Roman" panose="02020603050405020304" pitchFamily="18" charset="0"/>
                <a:cs typeface="Times New Roman" panose="02020603050405020304" pitchFamily="18" charset="0"/>
              </a:rPr>
              <a:t>Label = 0: Tin thật (Real News)</a:t>
            </a:r>
          </a:p>
          <a:p>
            <a:pPr>
              <a:lnSpc>
                <a:spcPct val="150000"/>
              </a:lnSpc>
            </a:pPr>
            <a:r>
              <a:rPr lang="en-US" sz="2000">
                <a:latin typeface="Times New Roman" panose="02020603050405020304" pitchFamily="18" charset="0"/>
                <a:cs typeface="Times New Roman" panose="02020603050405020304" pitchFamily="18" charset="0"/>
              </a:rPr>
              <a:t>Label  = 1: Tin giả (Fake News)</a:t>
            </a:r>
          </a:p>
          <a:p>
            <a:pPr>
              <a:lnSpc>
                <a:spcPct val="150000"/>
              </a:lnSpc>
            </a:pPr>
            <a:r>
              <a:rPr lang="en-US" sz="2000">
                <a:latin typeface="Times New Roman" panose="02020603050405020304" pitchFamily="18" charset="0"/>
                <a:cs typeface="Times New Roman" panose="02020603050405020304" pitchFamily="18" charset="0"/>
              </a:rPr>
              <a:t>Dataset đã được chia sẵn thành 3 tập khi thu thập dữ liệu:</a:t>
            </a:r>
          </a:p>
          <a:p>
            <a:pPr>
              <a:lnSpc>
                <a:spcPct val="150000"/>
              </a:lnSpc>
            </a:pPr>
            <a:r>
              <a:rPr lang="en-US" sz="2000">
                <a:latin typeface="Times New Roman" panose="02020603050405020304" pitchFamily="18" charset="0"/>
                <a:cs typeface="Times New Roman" panose="02020603050405020304" pitchFamily="18" charset="0"/>
              </a:rPr>
              <a:t>	Training set (849 bài báo)</a:t>
            </a:r>
          </a:p>
          <a:p>
            <a:pPr>
              <a:lnSpc>
                <a:spcPct val="150000"/>
              </a:lnSpc>
            </a:pPr>
            <a:r>
              <a:rPr lang="en-US" sz="2000">
                <a:latin typeface="Times New Roman" panose="02020603050405020304" pitchFamily="18" charset="0"/>
                <a:cs typeface="Times New Roman" panose="02020603050405020304" pitchFamily="18" charset="0"/>
              </a:rPr>
              <a:t>	Validation set (171 bài báo)</a:t>
            </a:r>
          </a:p>
          <a:p>
            <a:pPr>
              <a:lnSpc>
                <a:spcPct val="150000"/>
              </a:lnSpc>
            </a:pPr>
            <a:r>
              <a:rPr lang="en-US" sz="2000">
                <a:latin typeface="Times New Roman" panose="02020603050405020304" pitchFamily="18" charset="0"/>
                <a:cs typeface="Times New Roman" panose="02020603050405020304" pitchFamily="18" charset="0"/>
              </a:rPr>
              <a:t>	Test set (161 bài báo)</a:t>
            </a:r>
          </a:p>
          <a:p>
            <a:pPr>
              <a:lnSpc>
                <a:spcPct val="150000"/>
              </a:lnSpc>
            </a:pPr>
            <a:r>
              <a:rPr lang="en-US" sz="2000">
                <a:latin typeface="Times New Roman" panose="02020603050405020304" pitchFamily="18" charset="0"/>
                <a:cs typeface="Times New Roman" panose="02020603050405020304" pitchFamily="18" charset="0"/>
              </a:rPr>
              <a:t>Mỗi bản ghi gồm:</a:t>
            </a:r>
          </a:p>
          <a:p>
            <a:pPr lvl="0" eaLnBrk="0" fontAlgn="base" hangingPunct="0">
              <a:lnSpc>
                <a:spcPct val="150000"/>
              </a:lnSpc>
              <a:spcBef>
                <a:spcPct val="0"/>
              </a:spcBef>
              <a:spcAft>
                <a:spcPct val="0"/>
              </a:spcAft>
              <a:buFontTx/>
              <a:buChar char="•"/>
            </a:pPr>
            <a:r>
              <a:rPr lang="en-US" altLang="en-US" sz="2000" b="1">
                <a:latin typeface="Times New Roman" panose="02020603050405020304" pitchFamily="18" charset="0"/>
                <a:cs typeface="Times New Roman" panose="02020603050405020304" pitchFamily="18" charset="0"/>
              </a:rPr>
              <a:t>Maintext</a:t>
            </a:r>
            <a:r>
              <a:rPr lang="en-US" altLang="en-US" sz="2000">
                <a:latin typeface="Times New Roman" panose="02020603050405020304" pitchFamily="18" charset="0"/>
                <a:cs typeface="Times New Roman" panose="02020603050405020304" pitchFamily="18" charset="0"/>
              </a:rPr>
              <a:t>: nội dung bài báo</a:t>
            </a:r>
          </a:p>
          <a:p>
            <a:pPr lvl="0" eaLnBrk="0" fontAlgn="base" hangingPunct="0">
              <a:lnSpc>
                <a:spcPct val="150000"/>
              </a:lnSpc>
              <a:spcBef>
                <a:spcPct val="0"/>
              </a:spcBef>
              <a:spcAft>
                <a:spcPct val="0"/>
              </a:spcAft>
              <a:buFontTx/>
              <a:buChar char="•"/>
            </a:pPr>
            <a:r>
              <a:rPr lang="en-US" altLang="en-US" sz="2000" b="1">
                <a:latin typeface="Times New Roman" panose="02020603050405020304" pitchFamily="18" charset="0"/>
                <a:cs typeface="Times New Roman" panose="02020603050405020304" pitchFamily="18" charset="0"/>
              </a:rPr>
              <a:t>Label</a:t>
            </a:r>
            <a:r>
              <a:rPr lang="en-US" altLang="en-US" sz="2000">
                <a:latin typeface="Times New Roman" panose="02020603050405020304" pitchFamily="18" charset="0"/>
                <a:cs typeface="Times New Roman" panose="02020603050405020304" pitchFamily="18" charset="0"/>
              </a:rPr>
              <a:t>: nhãn phân loại (Real / Fake)</a:t>
            </a:r>
          </a:p>
          <a:p>
            <a:pPr>
              <a:lnSpc>
                <a:spcPct val="150000"/>
              </a:lnSpc>
            </a:pPr>
            <a:r>
              <a:rPr lang="en-US" sz="2000">
                <a:latin typeface="Times New Roman" panose="02020603050405020304" pitchFamily="18" charset="0"/>
                <a:cs typeface="Times New Roman" panose="02020603050405020304" pitchFamily="18" charset="0"/>
              </a:rPr>
              <a:t>Nguồn: </a:t>
            </a:r>
            <a:r>
              <a:rPr lang="en-US" sz="2000">
                <a:latin typeface="Times New Roman" panose="02020603050405020304" pitchFamily="18" charset="0"/>
                <a:cs typeface="Times New Roman" panose="02020603050405020304" pitchFamily="18" charset="0"/>
                <a:hlinkClick r:id="rId2"/>
              </a:rPr>
              <a:t>Vietnamese Fake-News-Dataset-PBL7</a:t>
            </a:r>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1305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1AD05B-B83F-ED75-9874-A9975193A920}"/>
            </a:ext>
          </a:extLst>
        </p:cNvPr>
        <p:cNvGrpSpPr/>
        <p:nvPr/>
      </p:nvGrpSpPr>
      <p:grpSpPr>
        <a:xfrm>
          <a:off x="0" y="0"/>
          <a:ext cx="0" cy="0"/>
          <a:chOff x="0" y="0"/>
          <a:chExt cx="0" cy="0"/>
        </a:xfrm>
      </p:grpSpPr>
      <p:pic>
        <p:nvPicPr>
          <p:cNvPr id="15" name="Picture 14" descr="A blue rectangular bars with numbers&#10;&#10;AI-generated content may be incorrect.">
            <a:extLst>
              <a:ext uri="{FF2B5EF4-FFF2-40B4-BE49-F238E27FC236}">
                <a16:creationId xmlns:a16="http://schemas.microsoft.com/office/drawing/2014/main" id="{98D6BB28-ECE3-332E-E2E6-DE01E30884C0}"/>
              </a:ext>
            </a:extLst>
          </p:cNvPr>
          <p:cNvPicPr>
            <a:picLocks noChangeAspect="1"/>
          </p:cNvPicPr>
          <p:nvPr/>
        </p:nvPicPr>
        <p:blipFill>
          <a:blip r:embed="rId2"/>
          <a:stretch>
            <a:fillRect/>
          </a:stretch>
        </p:blipFill>
        <p:spPr>
          <a:xfrm>
            <a:off x="484632" y="2019080"/>
            <a:ext cx="3517119" cy="2813694"/>
          </a:xfrm>
          <a:prstGeom prst="rect">
            <a:avLst/>
          </a:prstGeom>
        </p:spPr>
      </p:pic>
      <p:cxnSp>
        <p:nvCxnSpPr>
          <p:cNvPr id="22" name="Straight Connector 21">
            <a:extLst>
              <a:ext uri="{FF2B5EF4-FFF2-40B4-BE49-F238E27FC236}">
                <a16:creationId xmlns:a16="http://schemas.microsoft.com/office/drawing/2014/main" id="{DCD67800-37AC-4E14-89B0-F79DCB3FB8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6560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1" name="Picture 10" descr="A graph of a number of blue rectangular bars&#10;&#10;AI-generated content may be incorrect.">
            <a:extLst>
              <a:ext uri="{FF2B5EF4-FFF2-40B4-BE49-F238E27FC236}">
                <a16:creationId xmlns:a16="http://schemas.microsoft.com/office/drawing/2014/main" id="{12CF8F1B-DAF8-4A3B-7B75-2487765C1DCF}"/>
              </a:ext>
            </a:extLst>
          </p:cNvPr>
          <p:cNvPicPr>
            <a:picLocks noChangeAspect="1"/>
          </p:cNvPicPr>
          <p:nvPr/>
        </p:nvPicPr>
        <p:blipFill>
          <a:blip r:embed="rId3"/>
          <a:stretch>
            <a:fillRect/>
          </a:stretch>
        </p:blipFill>
        <p:spPr>
          <a:xfrm>
            <a:off x="4310676" y="2028676"/>
            <a:ext cx="3537345" cy="2794502"/>
          </a:xfrm>
          <a:prstGeom prst="rect">
            <a:avLst/>
          </a:prstGeom>
        </p:spPr>
      </p:pic>
      <p:cxnSp>
        <p:nvCxnSpPr>
          <p:cNvPr id="24" name="Straight Connector 23">
            <a:extLst>
              <a:ext uri="{FF2B5EF4-FFF2-40B4-BE49-F238E27FC236}">
                <a16:creationId xmlns:a16="http://schemas.microsoft.com/office/drawing/2014/main" id="{20F1788F-A5AE-4188-8274-F7F2E3833E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99592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7" name="Picture 16" descr="A bar graph with numbers and labels&#10;&#10;AI-generated content may be incorrect.">
            <a:extLst>
              <a:ext uri="{FF2B5EF4-FFF2-40B4-BE49-F238E27FC236}">
                <a16:creationId xmlns:a16="http://schemas.microsoft.com/office/drawing/2014/main" id="{722704FB-120B-A265-A74D-32A90D7B6F4C}"/>
              </a:ext>
            </a:extLst>
          </p:cNvPr>
          <p:cNvPicPr>
            <a:picLocks noChangeAspect="1"/>
          </p:cNvPicPr>
          <p:nvPr/>
        </p:nvPicPr>
        <p:blipFill>
          <a:blip r:embed="rId4"/>
          <a:stretch>
            <a:fillRect/>
          </a:stretch>
        </p:blipFill>
        <p:spPr>
          <a:xfrm>
            <a:off x="8162336" y="2023477"/>
            <a:ext cx="3517120" cy="2804902"/>
          </a:xfrm>
          <a:prstGeom prst="rect">
            <a:avLst/>
          </a:prstGeom>
        </p:spPr>
      </p:pic>
    </p:spTree>
    <p:extLst>
      <p:ext uri="{BB962C8B-B14F-4D97-AF65-F5344CB8AC3E}">
        <p14:creationId xmlns:p14="http://schemas.microsoft.com/office/powerpoint/2010/main" val="2915214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6B0F8-09CF-789E-ECA7-8ABB6D3471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C4A278-5BA6-F7A5-F8EF-54EC4E4CD92F}"/>
              </a:ext>
            </a:extLst>
          </p:cNvPr>
          <p:cNvSpPr txBox="1"/>
          <p:nvPr/>
        </p:nvSpPr>
        <p:spPr>
          <a:xfrm>
            <a:off x="498636" y="488588"/>
            <a:ext cx="11194728" cy="5632311"/>
          </a:xfrm>
          <a:prstGeom prst="rect">
            <a:avLst/>
          </a:prstGeom>
          <a:noFill/>
        </p:spPr>
        <p:txBody>
          <a:bodyPr wrap="square" rtlCol="0">
            <a:spAutoFit/>
          </a:bodyPr>
          <a:lstStyle/>
          <a:p>
            <a:pPr algn="ctr"/>
            <a:r>
              <a:rPr lang="en-US" sz="2000" b="1">
                <a:latin typeface="Times New Roman" panose="02020603050405020304" pitchFamily="18" charset="0"/>
                <a:cs typeface="Times New Roman" panose="02020603050405020304" pitchFamily="18" charset="0"/>
              </a:rPr>
              <a:t>Tiền xử lý dữ liệu</a:t>
            </a:r>
          </a:p>
          <a:p>
            <a:r>
              <a:rPr lang="en-US" sz="2000">
                <a:latin typeface="Times New Roman" panose="02020603050405020304" pitchFamily="18" charset="0"/>
                <a:cs typeface="Times New Roman" panose="02020603050405020304" pitchFamily="18" charset="0"/>
              </a:rPr>
              <a:t>Các bước xử lý text:</a:t>
            </a:r>
          </a:p>
          <a:p>
            <a:pPr marL="342900" indent="-342900">
              <a:buFont typeface="Wingdings" panose="05000000000000000000" pitchFamily="2" charset="2"/>
              <a:buChar char="v"/>
            </a:pPr>
            <a:r>
              <a:rPr lang="vi-VN" sz="2000" b="1">
                <a:latin typeface="Times New Roman" panose="02020603050405020304" pitchFamily="18" charset="0"/>
                <a:cs typeface="Times New Roman" panose="02020603050405020304" pitchFamily="18" charset="0"/>
              </a:rPr>
              <a:t>Bước 1: Làm sạch và tiền xử lý văn bản</a:t>
            </a:r>
          </a:p>
          <a:p>
            <a:pPr marL="342900" indent="-342900">
              <a:buFont typeface="Arial" panose="020B0604020202020204" pitchFamily="34" charset="0"/>
              <a:buChar char="•"/>
            </a:pPr>
            <a:r>
              <a:rPr lang="vi-VN" sz="2000">
                <a:latin typeface="Times New Roman" panose="02020603050405020304" pitchFamily="18" charset="0"/>
                <a:cs typeface="Times New Roman" panose="02020603050405020304" pitchFamily="18" charset="0"/>
              </a:rPr>
              <a:t>Chuyển toàn bộ văn bản về chữ thường</a:t>
            </a:r>
          </a:p>
          <a:p>
            <a:pPr marL="342900" indent="-342900">
              <a:buFont typeface="Arial" panose="020B0604020202020204" pitchFamily="34" charset="0"/>
              <a:buChar char="•"/>
            </a:pPr>
            <a:r>
              <a:rPr lang="vi-VN" sz="2000">
                <a:latin typeface="Times New Roman" panose="02020603050405020304" pitchFamily="18" charset="0"/>
                <a:cs typeface="Times New Roman" panose="02020603050405020304" pitchFamily="18" charset="0"/>
              </a:rPr>
              <a:t>Loại bỏ URL, email, chữ số và ký tự đặc biệt</a:t>
            </a:r>
          </a:p>
          <a:p>
            <a:pPr marL="342900" indent="-342900">
              <a:buFont typeface="Arial" panose="020B0604020202020204" pitchFamily="34" charset="0"/>
              <a:buChar char="•"/>
            </a:pPr>
            <a:r>
              <a:rPr lang="vi-VN" sz="2000">
                <a:latin typeface="Times New Roman" panose="02020603050405020304" pitchFamily="18" charset="0"/>
                <a:cs typeface="Times New Roman" panose="02020603050405020304" pitchFamily="18" charset="0"/>
              </a:rPr>
              <a:t>Chỉ giữ lại chữ cái tiếng Việt</a:t>
            </a:r>
          </a:p>
          <a:p>
            <a:pPr marL="342900" indent="-342900">
              <a:buFont typeface="Arial" panose="020B0604020202020204" pitchFamily="34" charset="0"/>
              <a:buChar char="•"/>
            </a:pPr>
            <a:r>
              <a:rPr lang="vi-VN" sz="2000">
                <a:latin typeface="Times New Roman" panose="02020603050405020304" pitchFamily="18" charset="0"/>
                <a:cs typeface="Times New Roman" panose="02020603050405020304" pitchFamily="18" charset="0"/>
              </a:rPr>
              <a:t>Chuẩn hóa khoảng trắng</a:t>
            </a:r>
          </a:p>
          <a:p>
            <a:pPr marL="342900" indent="-342900">
              <a:buFont typeface="Arial" panose="020B0604020202020204" pitchFamily="34" charset="0"/>
              <a:buChar char="•"/>
            </a:pPr>
            <a:r>
              <a:rPr lang="vi-VN" sz="2000">
                <a:latin typeface="Times New Roman" panose="02020603050405020304" pitchFamily="18" charset="0"/>
                <a:cs typeface="Times New Roman" panose="02020603050405020304" pitchFamily="18" charset="0"/>
              </a:rPr>
              <a:t>Tách từ tiếng Việt bằng thư viện </a:t>
            </a:r>
            <a:r>
              <a:rPr lang="vi-VN" sz="2000" i="1">
                <a:latin typeface="Times New Roman" panose="02020603050405020304" pitchFamily="18" charset="0"/>
                <a:cs typeface="Times New Roman" panose="02020603050405020304" pitchFamily="18" charset="0"/>
              </a:rPr>
              <a:t>Underthesea</a:t>
            </a:r>
            <a:endParaRPr lang="vi-VN"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2000">
                <a:latin typeface="Times New Roman" panose="02020603050405020304" pitchFamily="18" charset="0"/>
                <a:cs typeface="Times New Roman" panose="02020603050405020304" pitchFamily="18" charset="0"/>
              </a:rPr>
              <a:t>Loại bỏ stopwords phổ biến</a:t>
            </a:r>
            <a:br>
              <a:rPr lang="vi-VN" sz="2000">
                <a:latin typeface="Times New Roman" panose="02020603050405020304" pitchFamily="18" charset="0"/>
                <a:cs typeface="Times New Roman" panose="02020603050405020304" pitchFamily="18" charset="0"/>
              </a:rPr>
            </a:br>
            <a:r>
              <a:rPr lang="vi-VN" sz="2000" b="1">
                <a:latin typeface="Times New Roman" panose="02020603050405020304" pitchFamily="18" charset="0"/>
                <a:cs typeface="Times New Roman" panose="02020603050405020304" pitchFamily="18" charset="0"/>
              </a:rPr>
              <a:t>Bước 2: Biểu diễn văn bản</a:t>
            </a:r>
          </a:p>
          <a:p>
            <a:r>
              <a:rPr lang="vi-VN" sz="2000">
                <a:latin typeface="Times New Roman" panose="02020603050405020304" pitchFamily="18" charset="0"/>
                <a:cs typeface="Times New Roman" panose="02020603050405020304" pitchFamily="18" charset="0"/>
              </a:rPr>
              <a:t>Sử dụng </a:t>
            </a:r>
            <a:r>
              <a:rPr lang="vi-VN" sz="2000" b="1">
                <a:latin typeface="Times New Roman" panose="02020603050405020304" pitchFamily="18" charset="0"/>
                <a:cs typeface="Times New Roman" panose="02020603050405020304" pitchFamily="18" charset="0"/>
              </a:rPr>
              <a:t>TF-IDF kết hợp n-gram (1,2)</a:t>
            </a:r>
            <a:endParaRPr lang="vi-VN" sz="2000">
              <a:latin typeface="Times New Roman" panose="02020603050405020304" pitchFamily="18" charset="0"/>
              <a:cs typeface="Times New Roman" panose="02020603050405020304" pitchFamily="18" charset="0"/>
            </a:endParaRPr>
          </a:p>
          <a:p>
            <a:pPr lvl="1"/>
            <a:r>
              <a:rPr lang="vi-VN" sz="2000" b="1">
                <a:latin typeface="Times New Roman" panose="02020603050405020304" pitchFamily="18" charset="0"/>
                <a:cs typeface="Times New Roman" panose="02020603050405020304" pitchFamily="18" charset="0"/>
              </a:rPr>
              <a:t>Unigram</a:t>
            </a:r>
            <a:r>
              <a:rPr lang="vi-VN" sz="2000">
                <a:latin typeface="Times New Roman" panose="02020603050405020304" pitchFamily="18" charset="0"/>
                <a:cs typeface="Times New Roman" panose="02020603050405020304" pitchFamily="18" charset="0"/>
              </a:rPr>
              <a:t>: phản ánh nội dung từ vựng</a:t>
            </a:r>
          </a:p>
          <a:p>
            <a:pPr lvl="1"/>
            <a:r>
              <a:rPr lang="vi-VN" sz="2000" b="1">
                <a:latin typeface="Times New Roman" panose="02020603050405020304" pitchFamily="18" charset="0"/>
                <a:cs typeface="Times New Roman" panose="02020603050405020304" pitchFamily="18" charset="0"/>
              </a:rPr>
              <a:t>Bigram</a:t>
            </a:r>
            <a:r>
              <a:rPr lang="vi-VN" sz="2000">
                <a:latin typeface="Times New Roman" panose="02020603050405020304" pitchFamily="18" charset="0"/>
                <a:cs typeface="Times New Roman" panose="02020603050405020304" pitchFamily="18" charset="0"/>
              </a:rPr>
              <a:t>: phản ánh cách diễn đạt và phong cách viết</a:t>
            </a:r>
          </a:p>
          <a:p>
            <a:pPr marL="342900" indent="-342900">
              <a:buFont typeface="Wingdings" panose="05000000000000000000" pitchFamily="2" charset="2"/>
              <a:buChar char="v"/>
            </a:pPr>
            <a:r>
              <a:rPr lang="vi-VN" sz="2000" b="1">
                <a:latin typeface="Times New Roman" panose="02020603050405020304" pitchFamily="18" charset="0"/>
                <a:cs typeface="Times New Roman" panose="02020603050405020304" pitchFamily="18" charset="0"/>
              </a:rPr>
              <a:t>Bước 3: Chia dữ liệu</a:t>
            </a:r>
          </a:p>
          <a:p>
            <a:r>
              <a:rPr lang="vi-VN" sz="2000">
                <a:latin typeface="Times New Roman" panose="02020603050405020304" pitchFamily="18" charset="0"/>
                <a:cs typeface="Times New Roman" panose="02020603050405020304" pitchFamily="18" charset="0"/>
              </a:rPr>
              <a:t>Dataset được lấy từ Kaggle và đã được chia sẵn</a:t>
            </a:r>
          </a:p>
          <a:p>
            <a:pPr marL="800100" lvl="1" indent="-342900">
              <a:buFont typeface="Arial" panose="020B0604020202020204" pitchFamily="34" charset="0"/>
              <a:buChar char="•"/>
            </a:pPr>
            <a:r>
              <a:rPr lang="vi-VN" sz="2000">
                <a:latin typeface="Times New Roman" panose="02020603050405020304" pitchFamily="18" charset="0"/>
                <a:cs typeface="Times New Roman" panose="02020603050405020304" pitchFamily="18" charset="0"/>
              </a:rPr>
              <a:t>Train set</a:t>
            </a:r>
          </a:p>
          <a:p>
            <a:pPr marL="800100" lvl="1" indent="-342900">
              <a:buFont typeface="Arial" panose="020B0604020202020204" pitchFamily="34" charset="0"/>
              <a:buChar char="•"/>
            </a:pPr>
            <a:r>
              <a:rPr lang="vi-VN" sz="2000">
                <a:latin typeface="Times New Roman" panose="02020603050405020304" pitchFamily="18" charset="0"/>
                <a:cs typeface="Times New Roman" panose="02020603050405020304" pitchFamily="18" charset="0"/>
              </a:rPr>
              <a:t>Validation set</a:t>
            </a:r>
          </a:p>
          <a:p>
            <a:pPr marL="800100" lvl="1" indent="-342900">
              <a:buFont typeface="Arial" panose="020B0604020202020204" pitchFamily="34" charset="0"/>
              <a:buChar char="•"/>
            </a:pPr>
            <a:r>
              <a:rPr lang="vi-VN" sz="2000">
                <a:latin typeface="Times New Roman" panose="02020603050405020304" pitchFamily="18" charset="0"/>
                <a:cs typeface="Times New Roman" panose="02020603050405020304" pitchFamily="18" charset="0"/>
              </a:rPr>
              <a:t>Test set</a:t>
            </a:r>
          </a:p>
        </p:txBody>
      </p:sp>
      <p:pic>
        <p:nvPicPr>
          <p:cNvPr id="6" name="Picture 5" descr="A black background with white text&#10;&#10;AI-generated content may be incorrect.">
            <a:extLst>
              <a:ext uri="{FF2B5EF4-FFF2-40B4-BE49-F238E27FC236}">
                <a16:creationId xmlns:a16="http://schemas.microsoft.com/office/drawing/2014/main" id="{974BE32F-DC87-3FE5-E73B-97BB70B03E36}"/>
              </a:ext>
            </a:extLst>
          </p:cNvPr>
          <p:cNvPicPr>
            <a:picLocks noChangeAspect="1"/>
          </p:cNvPicPr>
          <p:nvPr/>
        </p:nvPicPr>
        <p:blipFill>
          <a:blip r:embed="rId2"/>
          <a:stretch>
            <a:fillRect/>
          </a:stretch>
        </p:blipFill>
        <p:spPr>
          <a:xfrm>
            <a:off x="5535561" y="4548372"/>
            <a:ext cx="6548284" cy="1659745"/>
          </a:xfrm>
          <a:prstGeom prst="rect">
            <a:avLst/>
          </a:prstGeom>
        </p:spPr>
      </p:pic>
    </p:spTree>
    <p:extLst>
      <p:ext uri="{BB962C8B-B14F-4D97-AF65-F5344CB8AC3E}">
        <p14:creationId xmlns:p14="http://schemas.microsoft.com/office/powerpoint/2010/main" val="2886470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9A98E-9514-5869-5E6D-B78E79D41586}"/>
            </a:ext>
          </a:extLst>
        </p:cNvPr>
        <p:cNvGrpSpPr/>
        <p:nvPr/>
      </p:nvGrpSpPr>
      <p:grpSpPr>
        <a:xfrm>
          <a:off x="0" y="0"/>
          <a:ext cx="0" cy="0"/>
          <a:chOff x="0" y="0"/>
          <a:chExt cx="0" cy="0"/>
        </a:xfrm>
      </p:grpSpPr>
      <p:pic>
        <p:nvPicPr>
          <p:cNvPr id="3" name="Picture 2" descr="A graph with blue lines&#10;&#10;AI-generated content may be incorrect.">
            <a:extLst>
              <a:ext uri="{FF2B5EF4-FFF2-40B4-BE49-F238E27FC236}">
                <a16:creationId xmlns:a16="http://schemas.microsoft.com/office/drawing/2014/main" id="{37628F9E-798B-0B92-12DC-D4D43E55208E}"/>
              </a:ext>
            </a:extLst>
          </p:cNvPr>
          <p:cNvPicPr>
            <a:picLocks noChangeAspect="1"/>
          </p:cNvPicPr>
          <p:nvPr/>
        </p:nvPicPr>
        <p:blipFill>
          <a:blip r:embed="rId2"/>
          <a:stretch>
            <a:fillRect/>
          </a:stretch>
        </p:blipFill>
        <p:spPr>
          <a:xfrm>
            <a:off x="2743077" y="1528081"/>
            <a:ext cx="6393858" cy="5083733"/>
          </a:xfrm>
          <a:prstGeom prst="rect">
            <a:avLst/>
          </a:prstGeom>
        </p:spPr>
      </p:pic>
      <p:sp>
        <p:nvSpPr>
          <p:cNvPr id="4" name="TextBox 3">
            <a:extLst>
              <a:ext uri="{FF2B5EF4-FFF2-40B4-BE49-F238E27FC236}">
                <a16:creationId xmlns:a16="http://schemas.microsoft.com/office/drawing/2014/main" id="{3830D09B-C531-57BA-6AD4-2464F29F3EF4}"/>
              </a:ext>
            </a:extLst>
          </p:cNvPr>
          <p:cNvSpPr txBox="1"/>
          <p:nvPr/>
        </p:nvSpPr>
        <p:spPr>
          <a:xfrm>
            <a:off x="5807947" y="0"/>
            <a:ext cx="995785" cy="553998"/>
          </a:xfrm>
          <a:prstGeom prst="rect">
            <a:avLst/>
          </a:prstGeom>
          <a:noFill/>
        </p:spPr>
        <p:txBody>
          <a:bodyPr wrap="none" rtlCol="0">
            <a:spAutoFit/>
          </a:bodyPr>
          <a:lstStyle/>
          <a:p>
            <a:r>
              <a:rPr lang="en-US" sz="3000" b="1">
                <a:latin typeface="Times New Roman" panose="02020603050405020304" pitchFamily="18" charset="0"/>
                <a:cs typeface="Times New Roman" panose="02020603050405020304" pitchFamily="18" charset="0"/>
              </a:rPr>
              <a:t>EDA</a:t>
            </a:r>
          </a:p>
        </p:txBody>
      </p:sp>
    </p:spTree>
    <p:extLst>
      <p:ext uri="{BB962C8B-B14F-4D97-AF65-F5344CB8AC3E}">
        <p14:creationId xmlns:p14="http://schemas.microsoft.com/office/powerpoint/2010/main" val="2103618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35061-EBE8-CA01-35A9-9A3F56D9081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8CE0C8A-E1E2-C91B-4E29-88037BFADFBC}"/>
              </a:ext>
            </a:extLst>
          </p:cNvPr>
          <p:cNvSpPr txBox="1"/>
          <p:nvPr/>
        </p:nvSpPr>
        <p:spPr>
          <a:xfrm>
            <a:off x="5807947" y="0"/>
            <a:ext cx="995785" cy="553998"/>
          </a:xfrm>
          <a:prstGeom prst="rect">
            <a:avLst/>
          </a:prstGeom>
          <a:noFill/>
        </p:spPr>
        <p:txBody>
          <a:bodyPr wrap="none" rtlCol="0">
            <a:spAutoFit/>
          </a:bodyPr>
          <a:lstStyle/>
          <a:p>
            <a:r>
              <a:rPr lang="en-US" sz="3000" b="1">
                <a:latin typeface="Times New Roman" panose="02020603050405020304" pitchFamily="18" charset="0"/>
                <a:cs typeface="Times New Roman" panose="02020603050405020304" pitchFamily="18" charset="0"/>
              </a:rPr>
              <a:t>EDA</a:t>
            </a:r>
          </a:p>
        </p:txBody>
      </p:sp>
      <p:pic>
        <p:nvPicPr>
          <p:cNvPr id="5" name="Picture 4" descr="A graph with blue and white stripes&#10;&#10;AI-generated content may be incorrect.">
            <a:extLst>
              <a:ext uri="{FF2B5EF4-FFF2-40B4-BE49-F238E27FC236}">
                <a16:creationId xmlns:a16="http://schemas.microsoft.com/office/drawing/2014/main" id="{78264DF8-E0B4-D3A0-E9FB-3A841F57C37F}"/>
              </a:ext>
            </a:extLst>
          </p:cNvPr>
          <p:cNvPicPr>
            <a:picLocks noChangeAspect="1"/>
          </p:cNvPicPr>
          <p:nvPr/>
        </p:nvPicPr>
        <p:blipFill>
          <a:blip r:embed="rId2"/>
          <a:stretch>
            <a:fillRect/>
          </a:stretch>
        </p:blipFill>
        <p:spPr>
          <a:xfrm>
            <a:off x="1453576" y="1467059"/>
            <a:ext cx="9463959" cy="4793169"/>
          </a:xfrm>
          <a:prstGeom prst="rect">
            <a:avLst/>
          </a:prstGeom>
        </p:spPr>
      </p:pic>
    </p:spTree>
    <p:extLst>
      <p:ext uri="{BB962C8B-B14F-4D97-AF65-F5344CB8AC3E}">
        <p14:creationId xmlns:p14="http://schemas.microsoft.com/office/powerpoint/2010/main" val="2815097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3F436-85F7-DF18-3BA2-7F8D7DCDF9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2FB3870-8918-EAE9-A42A-913EFC920374}"/>
              </a:ext>
            </a:extLst>
          </p:cNvPr>
          <p:cNvSpPr txBox="1"/>
          <p:nvPr/>
        </p:nvSpPr>
        <p:spPr>
          <a:xfrm>
            <a:off x="822961" y="658368"/>
            <a:ext cx="10469880" cy="1938992"/>
          </a:xfrm>
          <a:prstGeom prst="rect">
            <a:avLst/>
          </a:prstGeom>
          <a:noFill/>
        </p:spPr>
        <p:txBody>
          <a:bodyPr wrap="square" rtlCol="0">
            <a:spAutoFit/>
          </a:bodyPr>
          <a:lstStyle/>
          <a:p>
            <a:r>
              <a:rPr lang="en-US" sz="3000">
                <a:latin typeface="Times New Roman" panose="02020603050405020304" pitchFamily="18" charset="0"/>
                <a:cs typeface="Times New Roman" panose="02020603050405020304" pitchFamily="18" charset="0"/>
              </a:rPr>
              <a:t>Stopwords:</a:t>
            </a:r>
          </a:p>
          <a:p>
            <a:pPr marL="285750" indent="-285750">
              <a:buFont typeface="Arial" panose="020B0604020202020204" pitchFamily="34" charset="0"/>
              <a:buChar char="•"/>
            </a:pPr>
            <a:r>
              <a:rPr lang="en-US" sz="3000">
                <a:latin typeface="Times New Roman" panose="02020603050405020304" pitchFamily="18" charset="0"/>
                <a:cs typeface="Times New Roman" panose="02020603050405020304" pitchFamily="18" charset="0"/>
              </a:rPr>
              <a:t>Stopword là những từ phổ biến xuất hiện với tần xuất cao trong một ngôn ngữ nhưng ít mang giá trị ngữ nghĩa khi xử lý văn bản</a:t>
            </a:r>
          </a:p>
          <a:p>
            <a:r>
              <a:rPr lang="en-US" sz="3000">
                <a:latin typeface="Times New Roman" panose="02020603050405020304" pitchFamily="18" charset="0"/>
                <a:cs typeface="Times New Roman" panose="02020603050405020304" pitchFamily="18" charset="0"/>
              </a:rPr>
              <a:t> </a:t>
            </a:r>
          </a:p>
        </p:txBody>
      </p:sp>
      <p:pic>
        <p:nvPicPr>
          <p:cNvPr id="3" name="Picture 2" descr="What are Stop Words?">
            <a:extLst>
              <a:ext uri="{FF2B5EF4-FFF2-40B4-BE49-F238E27FC236}">
                <a16:creationId xmlns:a16="http://schemas.microsoft.com/office/drawing/2014/main" id="{E26CCBC6-642A-534A-11EA-C1D2313775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0767" y="2305862"/>
            <a:ext cx="6268276" cy="35447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1928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DA9D-0B00-01E1-B65A-7E9211D774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409117-A8A6-2D9E-DCDC-DC9C0F7A5339}"/>
              </a:ext>
            </a:extLst>
          </p:cNvPr>
          <p:cNvSpPr txBox="1"/>
          <p:nvPr/>
        </p:nvSpPr>
        <p:spPr>
          <a:xfrm>
            <a:off x="842630" y="740664"/>
            <a:ext cx="10506739" cy="2000548"/>
          </a:xfrm>
          <a:prstGeom prst="rect">
            <a:avLst/>
          </a:prstGeom>
          <a:noFill/>
        </p:spPr>
        <p:txBody>
          <a:bodyPr wrap="square" rtlCol="0">
            <a:spAutoFit/>
          </a:bodyPr>
          <a:lstStyle/>
          <a:p>
            <a:pPr lvl="0" eaLnBrk="0" fontAlgn="base" hangingPunct="0">
              <a:spcBef>
                <a:spcPct val="0"/>
              </a:spcBef>
              <a:spcAft>
                <a:spcPct val="0"/>
              </a:spcAft>
            </a:pPr>
            <a:r>
              <a:rPr lang="en-US" sz="3000">
                <a:latin typeface="Times New Roman" panose="02020603050405020304" pitchFamily="18" charset="0"/>
                <a:cs typeface="Times New Roman" panose="02020603050405020304" pitchFamily="18" charset="0"/>
              </a:rPr>
              <a:t>TF-IDF (Term Frequency – Inverse Document Frequency):</a:t>
            </a:r>
          </a:p>
          <a:p>
            <a:pPr marL="457200" lvl="0" indent="-457200" eaLnBrk="0" fontAlgn="base" hangingPunct="0">
              <a:spcBef>
                <a:spcPct val="0"/>
              </a:spcBef>
              <a:spcAft>
                <a:spcPct val="0"/>
              </a:spcAft>
              <a:buFont typeface="Arial" panose="020B0604020202020204" pitchFamily="34" charset="0"/>
              <a:buChar char="•"/>
            </a:pPr>
            <a:r>
              <a:rPr lang="vi-VN" sz="3000">
                <a:latin typeface="Times New Roman" panose="02020603050405020304" pitchFamily="18" charset="0"/>
                <a:cs typeface="Times New Roman" panose="02020603050405020304" pitchFamily="18" charset="0"/>
              </a:rPr>
              <a:t>TF-IDF là phương pháp biểu diễn văn bản dựa trên tần suất xuất hiện của từ (</a:t>
            </a:r>
            <a:r>
              <a:rPr lang="vi-VN" sz="3000" b="1">
                <a:latin typeface="Times New Roman" panose="02020603050405020304" pitchFamily="18" charset="0"/>
                <a:cs typeface="Times New Roman" panose="02020603050405020304" pitchFamily="18" charset="0"/>
              </a:rPr>
              <a:t>TF</a:t>
            </a:r>
            <a:r>
              <a:rPr lang="vi-VN" sz="3000">
                <a:latin typeface="Times New Roman" panose="02020603050405020304" pitchFamily="18" charset="0"/>
                <a:cs typeface="Times New Roman" panose="02020603050405020304" pitchFamily="18" charset="0"/>
              </a:rPr>
              <a:t>) và mức độ quan trọng của từ trong toàn bộ tập văn bản (</a:t>
            </a:r>
            <a:r>
              <a:rPr lang="vi-VN" sz="3000" b="1">
                <a:latin typeface="Times New Roman" panose="02020603050405020304" pitchFamily="18" charset="0"/>
                <a:cs typeface="Times New Roman" panose="02020603050405020304" pitchFamily="18" charset="0"/>
              </a:rPr>
              <a:t>IDF</a:t>
            </a:r>
            <a:r>
              <a:rPr lang="vi-VN" sz="3000">
                <a:latin typeface="Times New Roman" panose="02020603050405020304" pitchFamily="18" charset="0"/>
                <a:cs typeface="Times New Roman" panose="02020603050405020304" pitchFamily="18" charset="0"/>
              </a:rPr>
              <a:t>)</a:t>
            </a:r>
            <a:endParaRPr lang="en-US" altLang="en-US" sz="3000">
              <a:latin typeface="Times New Roman" panose="02020603050405020304" pitchFamily="18" charset="0"/>
              <a:cs typeface="Times New Roman" panose="02020603050405020304" pitchFamily="18" charset="0"/>
            </a:endParaRPr>
          </a:p>
        </p:txBody>
      </p:sp>
      <p:pic>
        <p:nvPicPr>
          <p:cNvPr id="3076" name="Picture 4" descr="TF-IDF Defined - KDnuggets">
            <a:extLst>
              <a:ext uri="{FF2B5EF4-FFF2-40B4-BE49-F238E27FC236}">
                <a16:creationId xmlns:a16="http://schemas.microsoft.com/office/drawing/2014/main" id="{AE96D474-2605-675A-0224-79101855D8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5960" y="2741212"/>
            <a:ext cx="7763256" cy="3736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413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5C3AB-6D39-E5F6-7D0F-BA470C081E9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A21A079-DDD4-6ADC-8D52-0F03C8088905}"/>
              </a:ext>
            </a:extLst>
          </p:cNvPr>
          <p:cNvSpPr txBox="1"/>
          <p:nvPr/>
        </p:nvSpPr>
        <p:spPr>
          <a:xfrm>
            <a:off x="602348" y="452284"/>
            <a:ext cx="10862269" cy="3170099"/>
          </a:xfrm>
          <a:prstGeom prst="rect">
            <a:avLst/>
          </a:prstGeom>
          <a:noFill/>
        </p:spPr>
        <p:txBody>
          <a:bodyPr wrap="none" rtlCol="0">
            <a:spAutoFit/>
          </a:bodyPr>
          <a:lstStyle/>
          <a:p>
            <a:r>
              <a:rPr lang="en-US" sz="2500">
                <a:latin typeface="Times New Roman" panose="02020603050405020304" pitchFamily="18" charset="0"/>
                <a:cs typeface="Times New Roman" panose="02020603050405020304" pitchFamily="18" charset="0"/>
              </a:rPr>
              <a:t>N-gram:</a:t>
            </a:r>
          </a:p>
          <a:p>
            <a:pPr lvl="0" eaLnBrk="0" fontAlgn="base" hangingPunct="0">
              <a:spcBef>
                <a:spcPct val="0"/>
              </a:spcBef>
              <a:spcAft>
                <a:spcPct val="0"/>
              </a:spcAft>
              <a:buFontTx/>
              <a:buChar char="•"/>
            </a:pPr>
            <a:r>
              <a:rPr lang="en-US" altLang="en-US" sz="2500">
                <a:latin typeface="Times New Roman" panose="02020603050405020304" pitchFamily="18" charset="0"/>
                <a:cs typeface="Times New Roman" panose="02020603050405020304" pitchFamily="18" charset="0"/>
              </a:rPr>
              <a:t> n-gram là một chuỗi gồm n từ liên tiếp xuất hiện trong văn bản.</a:t>
            </a:r>
          </a:p>
          <a:p>
            <a:pPr lvl="0" eaLnBrk="0" fontAlgn="base" hangingPunct="0">
              <a:spcBef>
                <a:spcPct val="0"/>
              </a:spcBef>
              <a:spcAft>
                <a:spcPct val="0"/>
              </a:spcAft>
              <a:buFontTx/>
              <a:buChar char="•"/>
            </a:pPr>
            <a:r>
              <a:rPr lang="en-US" altLang="en-US" sz="2500">
                <a:latin typeface="Times New Roman" panose="02020603050405020304" pitchFamily="18" charset="0"/>
                <a:cs typeface="Times New Roman" panose="02020603050405020304" pitchFamily="18" charset="0"/>
              </a:rPr>
              <a:t> Được sử dụng để biểu diễn ngữ cảnh cục bộ trong xử lý ngôn ngữ tự nhiên (NLP).</a:t>
            </a:r>
          </a:p>
          <a:p>
            <a:endParaRPr lang="en-US" sz="2500">
              <a:latin typeface="Times New Roman" panose="02020603050405020304" pitchFamily="18" charset="0"/>
              <a:cs typeface="Times New Roman" panose="02020603050405020304" pitchFamily="18" charset="0"/>
            </a:endParaRPr>
          </a:p>
          <a:p>
            <a:endParaRPr lang="en-US" sz="2500">
              <a:latin typeface="Times New Roman" panose="02020603050405020304" pitchFamily="18" charset="0"/>
              <a:cs typeface="Times New Roman" panose="02020603050405020304" pitchFamily="18" charset="0"/>
            </a:endParaRPr>
          </a:p>
          <a:p>
            <a:r>
              <a:rPr lang="en-US" sz="2500">
                <a:latin typeface="Times New Roman" panose="02020603050405020304" pitchFamily="18" charset="0"/>
                <a:cs typeface="Times New Roman" panose="02020603050405020304" pitchFamily="18" charset="0"/>
              </a:rPr>
              <a:t>Ví dụ câu gốc:</a:t>
            </a:r>
          </a:p>
          <a:p>
            <a:r>
              <a:rPr lang="en-US" sz="2500" i="1">
                <a:latin typeface="Times New Roman" panose="02020603050405020304" pitchFamily="18" charset="0"/>
                <a:cs typeface="Times New Roman" panose="02020603050405020304" pitchFamily="18" charset="0"/>
              </a:rPr>
              <a:t>“tin giả gây sốc trên mạng xã hội”</a:t>
            </a:r>
            <a:endParaRPr lang="en-US" sz="2500">
              <a:latin typeface="Times New Roman" panose="02020603050405020304" pitchFamily="18" charset="0"/>
              <a:cs typeface="Times New Roman" panose="02020603050405020304" pitchFamily="18" charset="0"/>
            </a:endParaRPr>
          </a:p>
          <a:p>
            <a:endParaRPr lang="en-US" sz="250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B6B0E631-ED68-7CAC-C486-43CD2F8CB7B2}"/>
              </a:ext>
            </a:extLst>
          </p:cNvPr>
          <p:cNvGraphicFramePr>
            <a:graphicFrameLocks noGrp="1"/>
          </p:cNvGraphicFramePr>
          <p:nvPr>
            <p:extLst>
              <p:ext uri="{D42A27DB-BD31-4B8C-83A1-F6EECF244321}">
                <p14:modId xmlns:p14="http://schemas.microsoft.com/office/powerpoint/2010/main" val="2693815972"/>
              </p:ext>
            </p:extLst>
          </p:nvPr>
        </p:nvGraphicFramePr>
        <p:xfrm>
          <a:off x="1609214" y="3520932"/>
          <a:ext cx="8128000" cy="22707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361790235"/>
                    </a:ext>
                  </a:extLst>
                </a:gridCol>
                <a:gridCol w="4064000">
                  <a:extLst>
                    <a:ext uri="{9D8B030D-6E8A-4147-A177-3AD203B41FA5}">
                      <a16:colId xmlns:a16="http://schemas.microsoft.com/office/drawing/2014/main" val="3898005792"/>
                    </a:ext>
                  </a:extLst>
                </a:gridCol>
              </a:tblGrid>
              <a:tr h="370840">
                <a:tc>
                  <a:txBody>
                    <a:bodyPr/>
                    <a:lstStyle/>
                    <a:p>
                      <a:pPr>
                        <a:buNone/>
                      </a:pPr>
                      <a:r>
                        <a:rPr lang="en-US" sz="2500">
                          <a:latin typeface="Times New Roman" panose="02020603050405020304" pitchFamily="18" charset="0"/>
                          <a:cs typeface="Times New Roman" panose="02020603050405020304" pitchFamily="18" charset="0"/>
                        </a:rPr>
                        <a:t>Loại</a:t>
                      </a:r>
                    </a:p>
                  </a:txBody>
                  <a:tcPr anchor="ctr"/>
                </a:tc>
                <a:tc>
                  <a:txBody>
                    <a:bodyPr/>
                    <a:lstStyle/>
                    <a:p>
                      <a:pPr>
                        <a:buNone/>
                      </a:pPr>
                      <a:r>
                        <a:rPr lang="en-US" sz="2500">
                          <a:latin typeface="Times New Roman" panose="02020603050405020304" pitchFamily="18" charset="0"/>
                          <a:cs typeface="Times New Roman" panose="02020603050405020304" pitchFamily="18" charset="0"/>
                        </a:rPr>
                        <a:t>Kết quả</a:t>
                      </a:r>
                    </a:p>
                  </a:txBody>
                  <a:tcPr anchor="ctr"/>
                </a:tc>
                <a:extLst>
                  <a:ext uri="{0D108BD9-81ED-4DB2-BD59-A6C34878D82A}">
                    <a16:rowId xmlns:a16="http://schemas.microsoft.com/office/drawing/2014/main" val="602777995"/>
                  </a:ext>
                </a:extLst>
              </a:tr>
              <a:tr h="370840">
                <a:tc>
                  <a:txBody>
                    <a:bodyPr/>
                    <a:lstStyle/>
                    <a:p>
                      <a:pPr>
                        <a:buNone/>
                      </a:pPr>
                      <a:r>
                        <a:rPr lang="en-US" sz="2500" b="1">
                          <a:latin typeface="Times New Roman" panose="02020603050405020304" pitchFamily="18" charset="0"/>
                          <a:cs typeface="Times New Roman" panose="02020603050405020304" pitchFamily="18" charset="0"/>
                        </a:rPr>
                        <a:t>Unigram (n = 1)</a:t>
                      </a:r>
                      <a:endParaRPr lang="en-US" sz="2500">
                        <a:latin typeface="Times New Roman" panose="02020603050405020304" pitchFamily="18" charset="0"/>
                        <a:cs typeface="Times New Roman" panose="02020603050405020304" pitchFamily="18" charset="0"/>
                      </a:endParaRPr>
                    </a:p>
                  </a:txBody>
                  <a:tcPr anchor="ctr"/>
                </a:tc>
                <a:tc>
                  <a:txBody>
                    <a:bodyPr/>
                    <a:lstStyle/>
                    <a:p>
                      <a:pPr>
                        <a:buNone/>
                      </a:pPr>
                      <a:r>
                        <a:rPr lang="en-US" sz="2500">
                          <a:latin typeface="Times New Roman" panose="02020603050405020304" pitchFamily="18" charset="0"/>
                          <a:cs typeface="Times New Roman" panose="02020603050405020304" pitchFamily="18" charset="0"/>
                        </a:rPr>
                        <a:t>tin, giả, gây, sốc, mạng, xã hội</a:t>
                      </a:r>
                    </a:p>
                  </a:txBody>
                  <a:tcPr anchor="ctr"/>
                </a:tc>
                <a:extLst>
                  <a:ext uri="{0D108BD9-81ED-4DB2-BD59-A6C34878D82A}">
                    <a16:rowId xmlns:a16="http://schemas.microsoft.com/office/drawing/2014/main" val="1722361471"/>
                  </a:ext>
                </a:extLst>
              </a:tr>
              <a:tr h="370840">
                <a:tc>
                  <a:txBody>
                    <a:bodyPr/>
                    <a:lstStyle/>
                    <a:p>
                      <a:pPr>
                        <a:buNone/>
                      </a:pPr>
                      <a:r>
                        <a:rPr lang="en-US" sz="2500" b="1">
                          <a:latin typeface="Times New Roman" panose="02020603050405020304" pitchFamily="18" charset="0"/>
                          <a:cs typeface="Times New Roman" panose="02020603050405020304" pitchFamily="18" charset="0"/>
                        </a:rPr>
                        <a:t>Bigram (n = 2)</a:t>
                      </a:r>
                      <a:endParaRPr lang="en-US" sz="2500">
                        <a:latin typeface="Times New Roman" panose="02020603050405020304" pitchFamily="18" charset="0"/>
                        <a:cs typeface="Times New Roman" panose="02020603050405020304" pitchFamily="18" charset="0"/>
                      </a:endParaRPr>
                    </a:p>
                  </a:txBody>
                  <a:tcPr anchor="ctr"/>
                </a:tc>
                <a:tc>
                  <a:txBody>
                    <a:bodyPr/>
                    <a:lstStyle/>
                    <a:p>
                      <a:pPr>
                        <a:buNone/>
                      </a:pPr>
                      <a:r>
                        <a:rPr lang="en-US" sz="2500">
                          <a:latin typeface="Times New Roman" panose="02020603050405020304" pitchFamily="18" charset="0"/>
                          <a:cs typeface="Times New Roman" panose="02020603050405020304" pitchFamily="18" charset="0"/>
                        </a:rPr>
                        <a:t>tin_giả, giả_gây, gây_sốc, mạng_xã, xã_hội</a:t>
                      </a:r>
                    </a:p>
                  </a:txBody>
                  <a:tcPr anchor="ctr"/>
                </a:tc>
                <a:extLst>
                  <a:ext uri="{0D108BD9-81ED-4DB2-BD59-A6C34878D82A}">
                    <a16:rowId xmlns:a16="http://schemas.microsoft.com/office/drawing/2014/main" val="1764886919"/>
                  </a:ext>
                </a:extLst>
              </a:tr>
              <a:tr h="370840">
                <a:tc>
                  <a:txBody>
                    <a:bodyPr/>
                    <a:lstStyle/>
                    <a:p>
                      <a:pPr>
                        <a:buNone/>
                      </a:pPr>
                      <a:r>
                        <a:rPr lang="en-US" sz="2500" b="1">
                          <a:latin typeface="Times New Roman" panose="02020603050405020304" pitchFamily="18" charset="0"/>
                          <a:cs typeface="Times New Roman" panose="02020603050405020304" pitchFamily="18" charset="0"/>
                        </a:rPr>
                        <a:t>Trigram (n = 3)</a:t>
                      </a:r>
                      <a:endParaRPr lang="en-US" sz="2500">
                        <a:latin typeface="Times New Roman" panose="02020603050405020304" pitchFamily="18" charset="0"/>
                        <a:cs typeface="Times New Roman" panose="02020603050405020304" pitchFamily="18" charset="0"/>
                      </a:endParaRPr>
                    </a:p>
                  </a:txBody>
                  <a:tcPr anchor="ctr"/>
                </a:tc>
                <a:tc>
                  <a:txBody>
                    <a:bodyPr/>
                    <a:lstStyle/>
                    <a:p>
                      <a:pPr>
                        <a:buNone/>
                      </a:pPr>
                      <a:r>
                        <a:rPr lang="en-US" sz="2500">
                          <a:latin typeface="Times New Roman" panose="02020603050405020304" pitchFamily="18" charset="0"/>
                          <a:cs typeface="Times New Roman" panose="02020603050405020304" pitchFamily="18" charset="0"/>
                        </a:rPr>
                        <a:t>tin_giả_gây, giả_gây_sốc, …</a:t>
                      </a:r>
                    </a:p>
                  </a:txBody>
                  <a:tcPr anchor="ctr"/>
                </a:tc>
                <a:extLst>
                  <a:ext uri="{0D108BD9-81ED-4DB2-BD59-A6C34878D82A}">
                    <a16:rowId xmlns:a16="http://schemas.microsoft.com/office/drawing/2014/main" val="149367582"/>
                  </a:ext>
                </a:extLst>
              </a:tr>
            </a:tbl>
          </a:graphicData>
        </a:graphic>
      </p:graphicFrame>
    </p:spTree>
    <p:extLst>
      <p:ext uri="{BB962C8B-B14F-4D97-AF65-F5344CB8AC3E}">
        <p14:creationId xmlns:p14="http://schemas.microsoft.com/office/powerpoint/2010/main" val="1809960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F10BB-FF47-186F-4805-86EC2EBA6B7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683CBDD-7398-933B-17A1-DF9D8C7B181E}"/>
              </a:ext>
            </a:extLst>
          </p:cNvPr>
          <p:cNvSpPr txBox="1"/>
          <p:nvPr/>
        </p:nvSpPr>
        <p:spPr>
          <a:xfrm>
            <a:off x="226141" y="353960"/>
            <a:ext cx="11464413" cy="5794022"/>
          </a:xfrm>
          <a:prstGeom prst="rect">
            <a:avLst/>
          </a:prstGeom>
          <a:noFill/>
        </p:spPr>
        <p:txBody>
          <a:bodyPr wrap="square" rtlCol="0">
            <a:spAutoFit/>
          </a:bodyPr>
          <a:lstStyle/>
          <a:p>
            <a:pPr>
              <a:lnSpc>
                <a:spcPct val="150000"/>
              </a:lnSpc>
            </a:pPr>
            <a:r>
              <a:rPr lang="pt-BR" sz="2500" b="1">
                <a:latin typeface="Times New Roman" panose="02020603050405020304" pitchFamily="18" charset="0"/>
                <a:cs typeface="Times New Roman" panose="02020603050405020304" pitchFamily="18" charset="0"/>
              </a:rPr>
              <a:t>Vai trò của n-gram trong bài toán</a:t>
            </a:r>
          </a:p>
          <a:p>
            <a:pPr>
              <a:lnSpc>
                <a:spcPct val="150000"/>
              </a:lnSpc>
            </a:pPr>
            <a:r>
              <a:rPr lang="en-US" sz="2500" b="1">
                <a:latin typeface="Times New Roman" panose="02020603050405020304" pitchFamily="18" charset="0"/>
                <a:cs typeface="Times New Roman" panose="02020603050405020304" pitchFamily="18" charset="0"/>
              </a:rPr>
              <a:t>Unigram</a:t>
            </a:r>
            <a:r>
              <a:rPr lang="en-US" sz="2500">
                <a:latin typeface="Times New Roman" panose="02020603050405020304" pitchFamily="18" charset="0"/>
                <a:cs typeface="Times New Roman" panose="02020603050405020304" pitchFamily="18" charset="0"/>
              </a:rPr>
              <a:t>:</a:t>
            </a:r>
          </a:p>
          <a:p>
            <a:pPr lvl="1">
              <a:lnSpc>
                <a:spcPct val="150000"/>
              </a:lnSpc>
            </a:pPr>
            <a:r>
              <a:rPr lang="en-US" sz="2500">
                <a:latin typeface="Times New Roman" panose="02020603050405020304" pitchFamily="18" charset="0"/>
                <a:cs typeface="Times New Roman" panose="02020603050405020304" pitchFamily="18" charset="0"/>
              </a:rPr>
              <a:t>Phản ánh nội dung và chủ đề</a:t>
            </a:r>
          </a:p>
          <a:p>
            <a:pPr>
              <a:lnSpc>
                <a:spcPct val="150000"/>
              </a:lnSpc>
            </a:pPr>
            <a:r>
              <a:rPr lang="en-US" sz="2500" b="1">
                <a:latin typeface="Times New Roman" panose="02020603050405020304" pitchFamily="18" charset="0"/>
                <a:cs typeface="Times New Roman" panose="02020603050405020304" pitchFamily="18" charset="0"/>
              </a:rPr>
              <a:t>Bigram</a:t>
            </a:r>
            <a:r>
              <a:rPr lang="en-US" sz="2500">
                <a:latin typeface="Times New Roman" panose="02020603050405020304" pitchFamily="18" charset="0"/>
                <a:cs typeface="Times New Roman" panose="02020603050405020304" pitchFamily="18" charset="0"/>
              </a:rPr>
              <a:t>:</a:t>
            </a:r>
          </a:p>
          <a:p>
            <a:pPr lvl="1">
              <a:lnSpc>
                <a:spcPct val="150000"/>
              </a:lnSpc>
            </a:pPr>
            <a:r>
              <a:rPr lang="en-US" sz="2500">
                <a:latin typeface="Times New Roman" panose="02020603050405020304" pitchFamily="18" charset="0"/>
                <a:cs typeface="Times New Roman" panose="02020603050405020304" pitchFamily="18" charset="0"/>
              </a:rPr>
              <a:t>Phản ánh cách diễn đạt và phong cách viết</a:t>
            </a:r>
          </a:p>
          <a:p>
            <a:pPr lvl="1">
              <a:lnSpc>
                <a:spcPct val="150000"/>
              </a:lnSpc>
            </a:pPr>
            <a:r>
              <a:rPr lang="en-US" sz="2500">
                <a:latin typeface="Times New Roman" panose="02020603050405020304" pitchFamily="18" charset="0"/>
                <a:cs typeface="Times New Roman" panose="02020603050405020304" pitchFamily="18" charset="0"/>
              </a:rPr>
              <a:t>Rất quan trọng trong phân loại tin giả – tin thật</a:t>
            </a:r>
          </a:p>
          <a:p>
            <a:pPr>
              <a:lnSpc>
                <a:spcPct val="150000"/>
              </a:lnSpc>
            </a:pPr>
            <a:r>
              <a:rPr lang="en-US" sz="2500">
                <a:latin typeface="Times New Roman" panose="02020603050405020304" pitchFamily="18" charset="0"/>
                <a:cs typeface="Times New Roman" panose="02020603050405020304" pitchFamily="18" charset="0"/>
              </a:rPr>
              <a:t> Ví dụ:</a:t>
            </a:r>
          </a:p>
          <a:p>
            <a:pPr>
              <a:lnSpc>
                <a:spcPct val="150000"/>
              </a:lnSpc>
            </a:pPr>
            <a:r>
              <a:rPr lang="en-US" sz="2500">
                <a:latin typeface="Times New Roman" panose="02020603050405020304" pitchFamily="18" charset="0"/>
                <a:cs typeface="Times New Roman" panose="02020603050405020304" pitchFamily="18" charset="0"/>
              </a:rPr>
              <a:t>Fake news: </a:t>
            </a:r>
            <a:r>
              <a:rPr lang="en-US" sz="2500" i="1">
                <a:latin typeface="Times New Roman" panose="02020603050405020304" pitchFamily="18" charset="0"/>
                <a:cs typeface="Times New Roman" panose="02020603050405020304" pitchFamily="18" charset="0"/>
              </a:rPr>
              <a:t>gây_sốc</a:t>
            </a:r>
            <a:r>
              <a:rPr lang="en-US" sz="2500">
                <a:latin typeface="Times New Roman" panose="02020603050405020304" pitchFamily="18" charset="0"/>
                <a:cs typeface="Times New Roman" panose="02020603050405020304" pitchFamily="18" charset="0"/>
              </a:rPr>
              <a:t>, </a:t>
            </a:r>
            <a:r>
              <a:rPr lang="en-US" sz="2500" i="1">
                <a:latin typeface="Times New Roman" panose="02020603050405020304" pitchFamily="18" charset="0"/>
                <a:cs typeface="Times New Roman" panose="02020603050405020304" pitchFamily="18" charset="0"/>
              </a:rPr>
              <a:t>bất_ngờ</a:t>
            </a:r>
            <a:r>
              <a:rPr lang="en-US" sz="2500">
                <a:latin typeface="Times New Roman" panose="02020603050405020304" pitchFamily="18" charset="0"/>
                <a:cs typeface="Times New Roman" panose="02020603050405020304" pitchFamily="18" charset="0"/>
              </a:rPr>
              <a:t>, </a:t>
            </a:r>
            <a:r>
              <a:rPr lang="en-US" sz="2500" i="1">
                <a:latin typeface="Times New Roman" panose="02020603050405020304" pitchFamily="18" charset="0"/>
                <a:cs typeface="Times New Roman" panose="02020603050405020304" pitchFamily="18" charset="0"/>
              </a:rPr>
              <a:t>lan_truyền</a:t>
            </a:r>
            <a:endParaRPr lang="en-US" sz="2500">
              <a:latin typeface="Times New Roman" panose="02020603050405020304" pitchFamily="18" charset="0"/>
              <a:cs typeface="Times New Roman" panose="02020603050405020304" pitchFamily="18" charset="0"/>
            </a:endParaRPr>
          </a:p>
          <a:p>
            <a:pPr>
              <a:lnSpc>
                <a:spcPct val="150000"/>
              </a:lnSpc>
            </a:pPr>
            <a:r>
              <a:rPr lang="en-US" sz="2500">
                <a:latin typeface="Times New Roman" panose="02020603050405020304" pitchFamily="18" charset="0"/>
                <a:cs typeface="Times New Roman" panose="02020603050405020304" pitchFamily="18" charset="0"/>
              </a:rPr>
              <a:t>Real news: </a:t>
            </a:r>
            <a:r>
              <a:rPr lang="en-US" sz="2500" i="1">
                <a:latin typeface="Times New Roman" panose="02020603050405020304" pitchFamily="18" charset="0"/>
                <a:cs typeface="Times New Roman" panose="02020603050405020304" pitchFamily="18" charset="0"/>
              </a:rPr>
              <a:t>theo_nguồn</a:t>
            </a:r>
            <a:r>
              <a:rPr lang="en-US" sz="2500">
                <a:latin typeface="Times New Roman" panose="02020603050405020304" pitchFamily="18" charset="0"/>
                <a:cs typeface="Times New Roman" panose="02020603050405020304" pitchFamily="18" charset="0"/>
              </a:rPr>
              <a:t>, </a:t>
            </a:r>
            <a:r>
              <a:rPr lang="en-US" sz="2500" i="1">
                <a:latin typeface="Times New Roman" panose="02020603050405020304" pitchFamily="18" charset="0"/>
                <a:cs typeface="Times New Roman" panose="02020603050405020304" pitchFamily="18" charset="0"/>
              </a:rPr>
              <a:t>chuyên_gia_cho_biết</a:t>
            </a:r>
            <a:endParaRPr lang="en-US" sz="2500">
              <a:latin typeface="Times New Roman" panose="02020603050405020304" pitchFamily="18" charset="0"/>
              <a:cs typeface="Times New Roman" panose="02020603050405020304" pitchFamily="18" charset="0"/>
            </a:endParaRPr>
          </a:p>
          <a:p>
            <a:pPr>
              <a:lnSpc>
                <a:spcPct val="150000"/>
              </a:lnSpc>
            </a:pPr>
            <a:endParaRPr lang="en-US" sz="25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7554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C58D9-928C-F663-A08D-861145F9141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CA386E4-199A-3819-409E-5F91E707C810}"/>
              </a:ext>
            </a:extLst>
          </p:cNvPr>
          <p:cNvSpPr txBox="1"/>
          <p:nvPr/>
        </p:nvSpPr>
        <p:spPr>
          <a:xfrm>
            <a:off x="309716" y="188732"/>
            <a:ext cx="11572567" cy="3785652"/>
          </a:xfrm>
          <a:prstGeom prst="rect">
            <a:avLst/>
          </a:prstGeom>
          <a:noFill/>
        </p:spPr>
        <p:txBody>
          <a:bodyPr wrap="square" rtlCol="0">
            <a:spAutoFit/>
          </a:bodyPr>
          <a:lstStyle/>
          <a:p>
            <a:r>
              <a:rPr lang="en-US" sz="2000">
                <a:latin typeface="Times New Roman" panose="02020603050405020304" pitchFamily="18" charset="0"/>
                <a:ea typeface="Tahoma" panose="020B0604030504040204" pitchFamily="34" charset="0"/>
                <a:cs typeface="Times New Roman" panose="02020603050405020304" pitchFamily="18" charset="0"/>
              </a:rPr>
              <a:t>Wordcloud là gì?</a:t>
            </a:r>
          </a:p>
          <a:p>
            <a:r>
              <a:rPr lang="en-US" sz="2000">
                <a:latin typeface="Times New Roman" panose="02020603050405020304" pitchFamily="18" charset="0"/>
                <a:ea typeface="Tahoma" panose="020B0604030504040204" pitchFamily="34" charset="0"/>
                <a:cs typeface="Times New Roman" panose="02020603050405020304" pitchFamily="18" charset="0"/>
              </a:rPr>
              <a:t>- Mục tiêu của WordCloud:</a:t>
            </a:r>
          </a:p>
          <a:p>
            <a:pPr lvl="0" eaLnBrk="0" fontAlgn="base" hangingPunct="0">
              <a:spcBef>
                <a:spcPct val="0"/>
              </a:spcBef>
              <a:spcAft>
                <a:spcPct val="0"/>
              </a:spcAft>
              <a:buFontTx/>
              <a:buChar char="•"/>
            </a:pPr>
            <a:r>
              <a:rPr lang="en-US" altLang="en-US" sz="2000">
                <a:latin typeface="Times New Roman" panose="02020603050405020304" pitchFamily="18" charset="0"/>
                <a:ea typeface="Tahoma" panose="020B0604030504040204" pitchFamily="34" charset="0"/>
                <a:cs typeface="Times New Roman" panose="02020603050405020304" pitchFamily="18" charset="0"/>
              </a:rPr>
              <a:t> Quan sát </a:t>
            </a:r>
            <a:r>
              <a:rPr lang="en-US" altLang="en-US" sz="2000" b="1">
                <a:latin typeface="Times New Roman" panose="02020603050405020304" pitchFamily="18" charset="0"/>
                <a:ea typeface="Tahoma" panose="020B0604030504040204" pitchFamily="34" charset="0"/>
                <a:cs typeface="Times New Roman" panose="02020603050405020304" pitchFamily="18" charset="0"/>
              </a:rPr>
              <a:t>các từ/cụm từ xuất hiện nhiều</a:t>
            </a:r>
            <a:r>
              <a:rPr lang="en-US" altLang="en-US" sz="2000">
                <a:latin typeface="Times New Roman" panose="02020603050405020304" pitchFamily="18" charset="0"/>
                <a:ea typeface="Tahoma" panose="020B0604030504040204" pitchFamily="34" charset="0"/>
                <a:cs typeface="Times New Roman" panose="02020603050405020304" pitchFamily="18" charset="0"/>
              </a:rPr>
              <a:t> trong văn bản</a:t>
            </a:r>
          </a:p>
          <a:p>
            <a:pPr lvl="0" eaLnBrk="0" fontAlgn="base" hangingPunct="0">
              <a:spcBef>
                <a:spcPct val="0"/>
              </a:spcBef>
              <a:spcAft>
                <a:spcPct val="0"/>
              </a:spcAft>
              <a:buFontTx/>
              <a:buChar char="•"/>
            </a:pPr>
            <a:r>
              <a:rPr lang="en-US" altLang="en-US" sz="2000">
                <a:latin typeface="Times New Roman" panose="02020603050405020304" pitchFamily="18" charset="0"/>
                <a:ea typeface="Tahoma" panose="020B0604030504040204" pitchFamily="34" charset="0"/>
                <a:cs typeface="Times New Roman" panose="02020603050405020304" pitchFamily="18" charset="0"/>
              </a:rPr>
              <a:t> So sánh </a:t>
            </a:r>
            <a:r>
              <a:rPr lang="en-US" altLang="en-US" sz="2000" b="1">
                <a:latin typeface="Times New Roman" panose="02020603050405020304" pitchFamily="18" charset="0"/>
                <a:ea typeface="Tahoma" panose="020B0604030504040204" pitchFamily="34" charset="0"/>
                <a:cs typeface="Times New Roman" panose="02020603050405020304" pitchFamily="18" charset="0"/>
              </a:rPr>
              <a:t>sự khác biệt về phong cách viết</a:t>
            </a:r>
            <a:r>
              <a:rPr lang="en-US" altLang="en-US" sz="2000">
                <a:latin typeface="Times New Roman" panose="02020603050405020304" pitchFamily="18" charset="0"/>
                <a:ea typeface="Tahoma" panose="020B0604030504040204" pitchFamily="34" charset="0"/>
                <a:cs typeface="Times New Roman" panose="02020603050405020304" pitchFamily="18" charset="0"/>
              </a:rPr>
              <a:t> giữa:</a:t>
            </a:r>
          </a:p>
          <a:p>
            <a:pPr lvl="1" eaLnBrk="0" fontAlgn="base" hangingPunct="0">
              <a:spcBef>
                <a:spcPct val="0"/>
              </a:spcBef>
              <a:spcAft>
                <a:spcPct val="0"/>
              </a:spcAft>
              <a:buFontTx/>
              <a:buChar char="•"/>
            </a:pPr>
            <a:r>
              <a:rPr lang="en-US" altLang="en-US" sz="2000">
                <a:latin typeface="Times New Roman" panose="02020603050405020304" pitchFamily="18" charset="0"/>
                <a:ea typeface="Tahoma" panose="020B0604030504040204" pitchFamily="34" charset="0"/>
                <a:cs typeface="Times New Roman" panose="02020603050405020304" pitchFamily="18" charset="0"/>
              </a:rPr>
              <a:t> Tin giả (Fake News)</a:t>
            </a:r>
          </a:p>
          <a:p>
            <a:pPr lvl="1" eaLnBrk="0" fontAlgn="base" hangingPunct="0">
              <a:spcBef>
                <a:spcPct val="0"/>
              </a:spcBef>
              <a:spcAft>
                <a:spcPct val="0"/>
              </a:spcAft>
              <a:buFontTx/>
              <a:buChar char="•"/>
            </a:pPr>
            <a:r>
              <a:rPr lang="en-US" altLang="en-US" sz="2000">
                <a:latin typeface="Times New Roman" panose="02020603050405020304" pitchFamily="18" charset="0"/>
                <a:ea typeface="Tahoma" panose="020B0604030504040204" pitchFamily="34" charset="0"/>
                <a:cs typeface="Times New Roman" panose="02020603050405020304" pitchFamily="18" charset="0"/>
              </a:rPr>
              <a:t> Tin thật (Real News)</a:t>
            </a:r>
          </a:p>
          <a:p>
            <a:pPr lvl="0" eaLnBrk="0" fontAlgn="base" hangingPunct="0">
              <a:spcBef>
                <a:spcPct val="0"/>
              </a:spcBef>
              <a:spcAft>
                <a:spcPct val="0"/>
              </a:spcAft>
            </a:pPr>
            <a:r>
              <a:rPr lang="en-US" altLang="en-US" sz="2000">
                <a:latin typeface="Times New Roman" panose="02020603050405020304" pitchFamily="18" charset="0"/>
                <a:ea typeface="Tahoma" panose="020B0604030504040204" pitchFamily="34" charset="0"/>
                <a:cs typeface="Times New Roman" panose="02020603050405020304" pitchFamily="18" charset="0"/>
              </a:rPr>
              <a:t>- Ý nghĩa của WordCloud:</a:t>
            </a:r>
          </a:p>
          <a:p>
            <a:pPr lvl="0" eaLnBrk="0" fontAlgn="base" hangingPunct="0">
              <a:spcBef>
                <a:spcPct val="0"/>
              </a:spcBef>
              <a:spcAft>
                <a:spcPct val="0"/>
              </a:spcAft>
              <a:buFontTx/>
              <a:buChar char="•"/>
            </a:pPr>
            <a:r>
              <a:rPr lang="en-US" altLang="en-US" sz="2000">
                <a:latin typeface="Times New Roman" panose="02020603050405020304" pitchFamily="18" charset="0"/>
                <a:ea typeface="Tahoma" panose="020B0604030504040204" pitchFamily="34" charset="0"/>
                <a:cs typeface="Times New Roman" panose="02020603050405020304" pitchFamily="18" charset="0"/>
              </a:rPr>
              <a:t> Kích thước từ ∝ </a:t>
            </a:r>
            <a:r>
              <a:rPr lang="en-US" altLang="en-US" sz="2000" b="1">
                <a:latin typeface="Times New Roman" panose="02020603050405020304" pitchFamily="18" charset="0"/>
                <a:ea typeface="Tahoma" panose="020B0604030504040204" pitchFamily="34" charset="0"/>
                <a:cs typeface="Times New Roman" panose="02020603050405020304" pitchFamily="18" charset="0"/>
              </a:rPr>
              <a:t>tần suất xuất hiện</a:t>
            </a:r>
            <a:endParaRPr lang="en-US" altLang="en-US" sz="2000">
              <a:latin typeface="Times New Roman" panose="02020603050405020304" pitchFamily="18" charset="0"/>
              <a:ea typeface="Tahoma" panose="020B0604030504040204" pitchFamily="34" charset="0"/>
              <a:cs typeface="Times New Roman" panose="02020603050405020304" pitchFamily="18" charset="0"/>
            </a:endParaRPr>
          </a:p>
          <a:p>
            <a:pPr lvl="0" eaLnBrk="0" fontAlgn="base" hangingPunct="0">
              <a:spcBef>
                <a:spcPct val="0"/>
              </a:spcBef>
              <a:spcAft>
                <a:spcPct val="0"/>
              </a:spcAft>
              <a:buFontTx/>
              <a:buChar char="•"/>
            </a:pPr>
            <a:r>
              <a:rPr lang="en-US" altLang="en-US" sz="2000">
                <a:latin typeface="Times New Roman" panose="02020603050405020304" pitchFamily="18" charset="0"/>
                <a:ea typeface="Tahoma" panose="020B0604030504040204" pitchFamily="34" charset="0"/>
                <a:cs typeface="Times New Roman" panose="02020603050405020304" pitchFamily="18" charset="0"/>
              </a:rPr>
              <a:t> Giúp phát hiện:</a:t>
            </a:r>
          </a:p>
          <a:p>
            <a:pPr lvl="1" eaLnBrk="0" fontAlgn="base" hangingPunct="0">
              <a:spcBef>
                <a:spcPct val="0"/>
              </a:spcBef>
              <a:spcAft>
                <a:spcPct val="0"/>
              </a:spcAft>
              <a:buFontTx/>
              <a:buChar char="•"/>
            </a:pPr>
            <a:r>
              <a:rPr lang="en-US" altLang="en-US" sz="2000">
                <a:latin typeface="Times New Roman" panose="02020603050405020304" pitchFamily="18" charset="0"/>
                <a:ea typeface="Tahoma" panose="020B0604030504040204" pitchFamily="34" charset="0"/>
                <a:cs typeface="Times New Roman" panose="02020603050405020304" pitchFamily="18" charset="0"/>
              </a:rPr>
              <a:t> Từ/cụm từ đặc trưng</a:t>
            </a:r>
          </a:p>
          <a:p>
            <a:pPr lvl="1" eaLnBrk="0" fontAlgn="base" hangingPunct="0">
              <a:spcBef>
                <a:spcPct val="0"/>
              </a:spcBef>
              <a:spcAft>
                <a:spcPct val="0"/>
              </a:spcAft>
              <a:buFontTx/>
              <a:buChar char="•"/>
            </a:pPr>
            <a:r>
              <a:rPr lang="en-US" altLang="en-US" sz="2000">
                <a:latin typeface="Times New Roman" panose="02020603050405020304" pitchFamily="18" charset="0"/>
                <a:ea typeface="Tahoma" panose="020B0604030504040204" pitchFamily="34" charset="0"/>
                <a:cs typeface="Times New Roman" panose="02020603050405020304" pitchFamily="18" charset="0"/>
              </a:rPr>
              <a:t> Từ xuất hiện ở cả hai nhãn</a:t>
            </a:r>
          </a:p>
          <a:p>
            <a:pPr lvl="1" eaLnBrk="0" fontAlgn="base" hangingPunct="0">
              <a:spcBef>
                <a:spcPct val="0"/>
              </a:spcBef>
              <a:spcAft>
                <a:spcPct val="0"/>
              </a:spcAft>
              <a:buFontTx/>
              <a:buChar char="•"/>
            </a:pPr>
            <a:r>
              <a:rPr lang="en-US" altLang="en-US" sz="2000">
                <a:latin typeface="Times New Roman" panose="02020603050405020304" pitchFamily="18" charset="0"/>
                <a:ea typeface="Tahoma" panose="020B0604030504040204" pitchFamily="34" charset="0"/>
                <a:cs typeface="Times New Roman" panose="02020603050405020304" pitchFamily="18" charset="0"/>
              </a:rPr>
              <a:t> Dấu hiệu phong cách viết báo chí</a:t>
            </a:r>
          </a:p>
        </p:txBody>
      </p:sp>
      <p:pic>
        <p:nvPicPr>
          <p:cNvPr id="6" name="Picture 5" descr="A close up of words&#10;&#10;AI-generated content may be incorrect.">
            <a:extLst>
              <a:ext uri="{FF2B5EF4-FFF2-40B4-BE49-F238E27FC236}">
                <a16:creationId xmlns:a16="http://schemas.microsoft.com/office/drawing/2014/main" id="{93F1F1D3-EAE6-3F54-76D2-38252BAA86AA}"/>
              </a:ext>
            </a:extLst>
          </p:cNvPr>
          <p:cNvPicPr>
            <a:picLocks noChangeAspect="1"/>
          </p:cNvPicPr>
          <p:nvPr/>
        </p:nvPicPr>
        <p:blipFill>
          <a:blip r:embed="rId2"/>
          <a:stretch>
            <a:fillRect/>
          </a:stretch>
        </p:blipFill>
        <p:spPr>
          <a:xfrm>
            <a:off x="838200" y="3974384"/>
            <a:ext cx="10515600" cy="2724150"/>
          </a:xfrm>
          <a:prstGeom prst="rect">
            <a:avLst/>
          </a:prstGeom>
        </p:spPr>
      </p:pic>
    </p:spTree>
    <p:extLst>
      <p:ext uri="{BB962C8B-B14F-4D97-AF65-F5344CB8AC3E}">
        <p14:creationId xmlns:p14="http://schemas.microsoft.com/office/powerpoint/2010/main" val="3239603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A6AB3-B3FF-11BE-F25A-C2A2C91ED56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682A14B-B02B-D8DC-356C-9E53E59CA9DA}"/>
              </a:ext>
            </a:extLst>
          </p:cNvPr>
          <p:cNvSpPr txBox="1"/>
          <p:nvPr/>
        </p:nvSpPr>
        <p:spPr>
          <a:xfrm>
            <a:off x="4141779" y="2875002"/>
            <a:ext cx="3908442" cy="553998"/>
          </a:xfrm>
          <a:prstGeom prst="rect">
            <a:avLst/>
          </a:prstGeom>
          <a:noFill/>
        </p:spPr>
        <p:txBody>
          <a:bodyPr wrap="none" rtlCol="0">
            <a:spAutoFit/>
          </a:bodyPr>
          <a:lstStyle/>
          <a:p>
            <a:r>
              <a:rPr lang="en-US" sz="3000" b="1">
                <a:latin typeface="Times New Roman" panose="02020603050405020304" pitchFamily="18" charset="0"/>
                <a:cs typeface="Times New Roman" panose="02020603050405020304" pitchFamily="18" charset="0"/>
              </a:rPr>
              <a:t>Ứng dụng các mô hình</a:t>
            </a:r>
          </a:p>
        </p:txBody>
      </p:sp>
    </p:spTree>
    <p:extLst>
      <p:ext uri="{BB962C8B-B14F-4D97-AF65-F5344CB8AC3E}">
        <p14:creationId xmlns:p14="http://schemas.microsoft.com/office/powerpoint/2010/main" val="2933581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90DA3-AE45-E46C-65D9-71124B5B5D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6AA964D-7CB0-68B4-6CF3-6A0B4272D9B0}"/>
              </a:ext>
            </a:extLst>
          </p:cNvPr>
          <p:cNvSpPr txBox="1"/>
          <p:nvPr/>
        </p:nvSpPr>
        <p:spPr>
          <a:xfrm>
            <a:off x="722377" y="429768"/>
            <a:ext cx="10991088" cy="2215991"/>
          </a:xfrm>
          <a:prstGeom prst="rect">
            <a:avLst/>
          </a:prstGeom>
          <a:noFill/>
        </p:spPr>
        <p:txBody>
          <a:bodyPr wrap="square" rtlCol="0">
            <a:spAutoFit/>
          </a:bodyPr>
          <a:lstStyle/>
          <a:p>
            <a:r>
              <a:rPr lang="en-US" sz="3000" b="1">
                <a:latin typeface="Times New Roman" panose="02020603050405020304" pitchFamily="18" charset="0"/>
                <a:cs typeface="Times New Roman" panose="02020603050405020304" pitchFamily="18" charset="0"/>
              </a:rPr>
              <a:t>Logistic regression</a:t>
            </a:r>
          </a:p>
          <a:p>
            <a:pPr marL="285750" indent="-285750">
              <a:buFont typeface="Arial" panose="020B0604020202020204" pitchFamily="34" charset="0"/>
              <a:buChar char="•"/>
            </a:pPr>
            <a:r>
              <a:rPr lang="en-US" sz="2700">
                <a:latin typeface="Times New Roman" panose="02020603050405020304" pitchFamily="18" charset="0"/>
                <a:cs typeface="Times New Roman" panose="02020603050405020304" pitchFamily="18" charset="0"/>
              </a:rPr>
              <a:t>Logistic regression là </a:t>
            </a:r>
            <a:r>
              <a:rPr lang="vi-VN" sz="2700">
                <a:latin typeface="Times New Roman" panose="02020603050405020304" pitchFamily="18" charset="0"/>
                <a:cs typeface="Times New Roman" panose="02020603050405020304" pitchFamily="18" charset="0"/>
              </a:rPr>
              <a:t>mô hình tuyến tính được sử dụng cho các nhiệm vụ phân loại, dự đoán xác suất của một đầu vào thuộc về một trong nhiều lớp bằng cách áp dụng hàm softmax (đối với phân loại đa lớp) hoặc hàm sigmoid (đối với phân loại nhị phân).</a:t>
            </a:r>
            <a:endParaRPr lang="en-US" sz="2700">
              <a:latin typeface="Times New Roman" panose="02020603050405020304" pitchFamily="18" charset="0"/>
              <a:cs typeface="Times New Roman" panose="02020603050405020304" pitchFamily="18" charset="0"/>
            </a:endParaRPr>
          </a:p>
        </p:txBody>
      </p:sp>
      <p:pic>
        <p:nvPicPr>
          <p:cNvPr id="6146" name="Picture 2" descr="Everything You Need to Know About Logistic Regression - Spiceworks">
            <a:extLst>
              <a:ext uri="{FF2B5EF4-FFF2-40B4-BE49-F238E27FC236}">
                <a16:creationId xmlns:a16="http://schemas.microsoft.com/office/drawing/2014/main" id="{49DCBAB8-CC94-19D8-9D5B-041AF559F6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6472" y="2794481"/>
            <a:ext cx="5209032" cy="3479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0528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FCDA1-09A0-BC0B-D5DC-9328E5BB193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27562FB-682D-66E0-EF6B-5ADF39D54821}"/>
              </a:ext>
            </a:extLst>
          </p:cNvPr>
          <p:cNvSpPr txBox="1"/>
          <p:nvPr/>
        </p:nvSpPr>
        <p:spPr>
          <a:xfrm>
            <a:off x="466344" y="338330"/>
            <a:ext cx="2701381" cy="523220"/>
          </a:xfrm>
          <a:prstGeom prst="rect">
            <a:avLst/>
          </a:prstGeom>
          <a:noFill/>
        </p:spPr>
        <p:txBody>
          <a:bodyPr wrap="none" rtlCol="0">
            <a:spAutoFit/>
          </a:bodyPr>
          <a:lstStyle/>
          <a:p>
            <a:r>
              <a:rPr lang="en-US" sz="2800" b="1">
                <a:latin typeface="Times New Roman" panose="02020603050405020304" pitchFamily="18" charset="0"/>
                <a:cs typeface="Times New Roman" panose="02020603050405020304" pitchFamily="18" charset="0"/>
              </a:rPr>
              <a:t>Ưu nhược điểm:</a:t>
            </a:r>
          </a:p>
        </p:txBody>
      </p:sp>
      <p:graphicFrame>
        <p:nvGraphicFramePr>
          <p:cNvPr id="6" name="Table 5">
            <a:extLst>
              <a:ext uri="{FF2B5EF4-FFF2-40B4-BE49-F238E27FC236}">
                <a16:creationId xmlns:a16="http://schemas.microsoft.com/office/drawing/2014/main" id="{E99DD882-AA1A-4710-CD31-58DDA450B358}"/>
              </a:ext>
            </a:extLst>
          </p:cNvPr>
          <p:cNvGraphicFramePr>
            <a:graphicFrameLocks noGrp="1"/>
          </p:cNvGraphicFramePr>
          <p:nvPr/>
        </p:nvGraphicFramePr>
        <p:xfrm>
          <a:off x="1702816" y="1146048"/>
          <a:ext cx="8128000" cy="52120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765874786"/>
                    </a:ext>
                  </a:extLst>
                </a:gridCol>
                <a:gridCol w="4064000">
                  <a:extLst>
                    <a:ext uri="{9D8B030D-6E8A-4147-A177-3AD203B41FA5}">
                      <a16:colId xmlns:a16="http://schemas.microsoft.com/office/drawing/2014/main" val="945854753"/>
                    </a:ext>
                  </a:extLst>
                </a:gridCol>
              </a:tblGrid>
              <a:tr h="370840">
                <a:tc>
                  <a:txBody>
                    <a:bodyPr/>
                    <a:lstStyle/>
                    <a:p>
                      <a:pPr>
                        <a:buNone/>
                      </a:pPr>
                      <a:r>
                        <a:rPr lang="vi-VN" sz="2000" b="0">
                          <a:latin typeface="+mj-lt"/>
                        </a:rPr>
                        <a:t>Ưu điểm</a:t>
                      </a:r>
                    </a:p>
                  </a:txBody>
                  <a:tcPr anchor="ctr"/>
                </a:tc>
                <a:tc>
                  <a:txBody>
                    <a:bodyPr/>
                    <a:lstStyle/>
                    <a:p>
                      <a:pPr>
                        <a:buNone/>
                      </a:pPr>
                      <a:r>
                        <a:rPr lang="vi-VN" sz="2000" b="0">
                          <a:latin typeface="+mj-lt"/>
                        </a:rPr>
                        <a:t>Nhược điểm</a:t>
                      </a:r>
                    </a:p>
                  </a:txBody>
                  <a:tcPr anchor="ctr"/>
                </a:tc>
                <a:extLst>
                  <a:ext uri="{0D108BD9-81ED-4DB2-BD59-A6C34878D82A}">
                    <a16:rowId xmlns:a16="http://schemas.microsoft.com/office/drawing/2014/main" val="446880564"/>
                  </a:ext>
                </a:extLst>
              </a:tr>
              <a:tr h="370840">
                <a:tc>
                  <a:txBody>
                    <a:bodyPr/>
                    <a:lstStyle/>
                    <a:p>
                      <a:pPr>
                        <a:buNone/>
                      </a:pPr>
                      <a:r>
                        <a:rPr lang="en-US" sz="2000" b="0">
                          <a:latin typeface="Times New Roman" panose="02020603050405020304" pitchFamily="18" charset="0"/>
                          <a:cs typeface="Times New Roman" panose="02020603050405020304" pitchFamily="18" charset="0"/>
                        </a:rPr>
                        <a:t>Dễ hiểu, dễ triển khai</a:t>
                      </a:r>
                    </a:p>
                  </a:txBody>
                  <a:tcPr anchor="ctr"/>
                </a:tc>
                <a:tc>
                  <a:txBody>
                    <a:bodyPr/>
                    <a:lstStyle/>
                    <a:p>
                      <a:pPr>
                        <a:buNone/>
                      </a:pPr>
                      <a:r>
                        <a:rPr lang="en-US" sz="2000" b="0">
                          <a:latin typeface="Times New Roman" panose="02020603050405020304" pitchFamily="18" charset="0"/>
                          <a:cs typeface="Times New Roman" panose="02020603050405020304" pitchFamily="18" charset="0"/>
                        </a:rPr>
                        <a:t>Chỉ dự đoán nhãn rời rạc (classification), không phù hợp regression liên tục</a:t>
                      </a:r>
                    </a:p>
                  </a:txBody>
                  <a:tcPr anchor="ctr"/>
                </a:tc>
                <a:extLst>
                  <a:ext uri="{0D108BD9-81ED-4DB2-BD59-A6C34878D82A}">
                    <a16:rowId xmlns:a16="http://schemas.microsoft.com/office/drawing/2014/main" val="711514945"/>
                  </a:ext>
                </a:extLst>
              </a:tr>
              <a:tr h="370840">
                <a:tc>
                  <a:txBody>
                    <a:bodyPr/>
                    <a:lstStyle/>
                    <a:p>
                      <a:pPr>
                        <a:buNone/>
                      </a:pPr>
                      <a:r>
                        <a:rPr lang="en-US" sz="2000" b="0">
                          <a:latin typeface="Times New Roman" panose="02020603050405020304" pitchFamily="18" charset="0"/>
                          <a:cs typeface="Times New Roman" panose="02020603050405020304" pitchFamily="18" charset="0"/>
                        </a:rPr>
                        <a:t>Kết quả có thể diễn giải trực tiếp bằng xác suất</a:t>
                      </a:r>
                    </a:p>
                  </a:txBody>
                  <a:tcPr anchor="ctr"/>
                </a:tc>
                <a:tc>
                  <a:txBody>
                    <a:bodyPr/>
                    <a:lstStyle/>
                    <a:p>
                      <a:pPr>
                        <a:buNone/>
                      </a:pPr>
                      <a:r>
                        <a:rPr lang="en-US" sz="2000" b="0">
                          <a:latin typeface="Times New Roman" panose="02020603050405020304" pitchFamily="18" charset="0"/>
                          <a:cs typeface="Times New Roman" panose="02020603050405020304" pitchFamily="18" charset="0"/>
                        </a:rPr>
                        <a:t>Giả định quan hệ tuyến tính giữa biến độc lập và log-odds → không phù hợp dữ liệu phi tuyến</a:t>
                      </a:r>
                    </a:p>
                  </a:txBody>
                  <a:tcPr anchor="ctr"/>
                </a:tc>
                <a:extLst>
                  <a:ext uri="{0D108BD9-81ED-4DB2-BD59-A6C34878D82A}">
                    <a16:rowId xmlns:a16="http://schemas.microsoft.com/office/drawing/2014/main" val="3125032025"/>
                  </a:ext>
                </a:extLst>
              </a:tr>
              <a:tr h="370840">
                <a:tc>
                  <a:txBody>
                    <a:bodyPr/>
                    <a:lstStyle/>
                    <a:p>
                      <a:pPr>
                        <a:buNone/>
                      </a:pPr>
                      <a:r>
                        <a:rPr lang="en-US" sz="2000" b="0">
                          <a:latin typeface="Times New Roman" panose="02020603050405020304" pitchFamily="18" charset="0"/>
                          <a:cs typeface="Times New Roman" panose="02020603050405020304" pitchFamily="18" charset="0"/>
                        </a:rPr>
                        <a:t>Hiệu quả với dữ liệu nhỏ</a:t>
                      </a:r>
                    </a:p>
                  </a:txBody>
                  <a:tcPr anchor="ctr"/>
                </a:tc>
                <a:tc>
                  <a:txBody>
                    <a:bodyPr/>
                    <a:lstStyle/>
                    <a:p>
                      <a:pPr>
                        <a:buNone/>
                      </a:pPr>
                      <a:r>
                        <a:rPr lang="vi-VN" sz="2000" b="0">
                          <a:latin typeface="Times New Roman" panose="02020603050405020304" pitchFamily="18" charset="0"/>
                          <a:cs typeface="Times New Roman" panose="02020603050405020304" pitchFamily="18" charset="0"/>
                        </a:rPr>
                        <a:t>Không xử lý tốt các feature nhiều tương tác/phức tạp</a:t>
                      </a:r>
                    </a:p>
                  </a:txBody>
                  <a:tcPr anchor="ctr"/>
                </a:tc>
                <a:extLst>
                  <a:ext uri="{0D108BD9-81ED-4DB2-BD59-A6C34878D82A}">
                    <a16:rowId xmlns:a16="http://schemas.microsoft.com/office/drawing/2014/main" val="3268630657"/>
                  </a:ext>
                </a:extLst>
              </a:tr>
              <a:tr h="370840">
                <a:tc>
                  <a:txBody>
                    <a:bodyPr/>
                    <a:lstStyle/>
                    <a:p>
                      <a:pPr>
                        <a:buNone/>
                      </a:pPr>
                      <a:r>
                        <a:rPr lang="en-US" sz="2000" b="0">
                          <a:latin typeface="Times New Roman" panose="02020603050405020304" pitchFamily="18" charset="0"/>
                          <a:cs typeface="Times New Roman" panose="02020603050405020304" pitchFamily="18" charset="0"/>
                        </a:rPr>
                        <a:t>Tính toán nhanh, ít tốn tài nguyên</a:t>
                      </a:r>
                    </a:p>
                  </a:txBody>
                  <a:tcPr anchor="ctr"/>
                </a:tc>
                <a:tc>
                  <a:txBody>
                    <a:bodyPr/>
                    <a:lstStyle/>
                    <a:p>
                      <a:pPr>
                        <a:buNone/>
                      </a:pPr>
                      <a:r>
                        <a:rPr lang="vi-VN" sz="2000" b="0">
                          <a:latin typeface="Times New Roman" panose="02020603050405020304" pitchFamily="18" charset="0"/>
                          <a:cs typeface="Times New Roman" panose="02020603050405020304" pitchFamily="18" charset="0"/>
                        </a:rPr>
                        <a:t>Dễ bị underfitting nếu mô hình quá đơn giản</a:t>
                      </a:r>
                    </a:p>
                  </a:txBody>
                  <a:tcPr anchor="ctr"/>
                </a:tc>
                <a:extLst>
                  <a:ext uri="{0D108BD9-81ED-4DB2-BD59-A6C34878D82A}">
                    <a16:rowId xmlns:a16="http://schemas.microsoft.com/office/drawing/2014/main" val="4086258640"/>
                  </a:ext>
                </a:extLst>
              </a:tr>
              <a:tr h="370840">
                <a:tc>
                  <a:txBody>
                    <a:bodyPr/>
                    <a:lstStyle/>
                    <a:p>
                      <a:pPr>
                        <a:buNone/>
                      </a:pPr>
                      <a:r>
                        <a:rPr lang="en-US" sz="2000" b="0">
                          <a:latin typeface="Times New Roman" panose="02020603050405020304" pitchFamily="18" charset="0"/>
                          <a:cs typeface="Times New Roman" panose="02020603050405020304" pitchFamily="18" charset="0"/>
                        </a:rPr>
                        <a:t>Có thể mở rộng bằng Regularization (L1, L2) để tránh overfitting</a:t>
                      </a:r>
                    </a:p>
                  </a:txBody>
                  <a:tcPr anchor="ctr"/>
                </a:tc>
                <a:tc>
                  <a:txBody>
                    <a:bodyPr/>
                    <a:lstStyle/>
                    <a:p>
                      <a:pPr>
                        <a:buNone/>
                      </a:pPr>
                      <a:r>
                        <a:rPr lang="en-US" sz="2000" b="0">
                          <a:latin typeface="Times New Roman" panose="02020603050405020304" pitchFamily="18" charset="0"/>
                          <a:cs typeface="Times New Roman" panose="02020603050405020304" pitchFamily="18" charset="0"/>
                        </a:rPr>
                        <a:t>Cần chuẩn hóa dữ liệu nếu sử dụng regularization</a:t>
                      </a:r>
                    </a:p>
                  </a:txBody>
                  <a:tcPr anchor="ctr"/>
                </a:tc>
                <a:extLst>
                  <a:ext uri="{0D108BD9-81ED-4DB2-BD59-A6C34878D82A}">
                    <a16:rowId xmlns:a16="http://schemas.microsoft.com/office/drawing/2014/main" val="1059522243"/>
                  </a:ext>
                </a:extLst>
              </a:tr>
              <a:tr h="370840">
                <a:tc>
                  <a:txBody>
                    <a:bodyPr/>
                    <a:lstStyle/>
                    <a:p>
                      <a:pPr>
                        <a:buNone/>
                      </a:pPr>
                      <a:r>
                        <a:rPr lang="en-US" sz="2000" b="0">
                          <a:latin typeface="Times New Roman" panose="02020603050405020304" pitchFamily="18" charset="0"/>
                          <a:cs typeface="Times New Roman" panose="02020603050405020304" pitchFamily="18" charset="0"/>
                        </a:rPr>
                        <a:t>Trả về xác suất, dễ kết hợp với threshold</a:t>
                      </a:r>
                    </a:p>
                  </a:txBody>
                  <a:tcPr anchor="ctr"/>
                </a:tc>
                <a:tc>
                  <a:txBody>
                    <a:bodyPr/>
                    <a:lstStyle/>
                    <a:p>
                      <a:pPr>
                        <a:buNone/>
                      </a:pPr>
                      <a:r>
                        <a:rPr lang="en-US" sz="2000" b="0">
                          <a:latin typeface="Times New Roman" panose="02020603050405020304" pitchFamily="18" charset="0"/>
                          <a:cs typeface="Times New Roman" panose="02020603050405020304" pitchFamily="18" charset="0"/>
                        </a:rPr>
                        <a:t>Nhạy cảm với outlier trong dữ liệu</a:t>
                      </a:r>
                    </a:p>
                  </a:txBody>
                  <a:tcPr anchor="ctr"/>
                </a:tc>
                <a:extLst>
                  <a:ext uri="{0D108BD9-81ED-4DB2-BD59-A6C34878D82A}">
                    <a16:rowId xmlns:a16="http://schemas.microsoft.com/office/drawing/2014/main" val="2457575129"/>
                  </a:ext>
                </a:extLst>
              </a:tr>
            </a:tbl>
          </a:graphicData>
        </a:graphic>
      </p:graphicFrame>
    </p:spTree>
    <p:extLst>
      <p:ext uri="{BB962C8B-B14F-4D97-AF65-F5344CB8AC3E}">
        <p14:creationId xmlns:p14="http://schemas.microsoft.com/office/powerpoint/2010/main" val="1549296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EA643-6997-B538-DB20-BF60AAA49AC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E979514-4C99-CFD6-77A9-53F41102712D}"/>
              </a:ext>
            </a:extLst>
          </p:cNvPr>
          <p:cNvSpPr txBox="1"/>
          <p:nvPr/>
        </p:nvSpPr>
        <p:spPr>
          <a:xfrm>
            <a:off x="722377" y="429768"/>
            <a:ext cx="10991088" cy="2893100"/>
          </a:xfrm>
          <a:prstGeom prst="rect">
            <a:avLst/>
          </a:prstGeom>
          <a:noFill/>
        </p:spPr>
        <p:txBody>
          <a:bodyPr wrap="square" rtlCol="0">
            <a:spAutoFit/>
          </a:bodyPr>
          <a:lstStyle/>
          <a:p>
            <a:r>
              <a:rPr lang="en-US" sz="3000" b="1">
                <a:latin typeface="Times New Roman" panose="02020603050405020304" pitchFamily="18" charset="0"/>
                <a:cs typeface="Times New Roman" panose="02020603050405020304" pitchFamily="18" charset="0"/>
              </a:rPr>
              <a:t>Naive Bayes</a:t>
            </a:r>
          </a:p>
          <a:p>
            <a:pPr marL="285750" indent="-285750">
              <a:buFont typeface="Arial" panose="020B0604020202020204" pitchFamily="34" charset="0"/>
              <a:buChar char="•"/>
            </a:pPr>
            <a:r>
              <a:rPr lang="en-US" sz="2500">
                <a:latin typeface="Times New Roman" panose="02020603050405020304" pitchFamily="18" charset="0"/>
                <a:cs typeface="Times New Roman" panose="02020603050405020304" pitchFamily="18" charset="0"/>
              </a:rPr>
              <a:t>Naive Bayes là một thuật toán Machine Learning có giám sát,</a:t>
            </a:r>
            <a:br>
              <a:rPr lang="en-US" sz="2500">
                <a:latin typeface="Times New Roman" panose="02020603050405020304" pitchFamily="18" charset="0"/>
                <a:cs typeface="Times New Roman" panose="02020603050405020304" pitchFamily="18" charset="0"/>
              </a:rPr>
            </a:br>
            <a:r>
              <a:rPr lang="en-US" sz="2500">
                <a:latin typeface="Times New Roman" panose="02020603050405020304" pitchFamily="18" charset="0"/>
                <a:cs typeface="Times New Roman" panose="02020603050405020304" pitchFamily="18" charset="0"/>
              </a:rPr>
              <a:t>dựa trên định lý Bayes để thực hiện phân loại</a:t>
            </a:r>
            <a:r>
              <a:rPr lang="vi-VN" sz="2500">
                <a:latin typeface="Times New Roman" panose="02020603050405020304" pitchFamily="18" charset="0"/>
                <a:cs typeface="Times New Roman" panose="02020603050405020304" pitchFamily="18" charset="0"/>
              </a:rPr>
              <a:t>.</a:t>
            </a:r>
            <a:endParaRPr lang="en-US" sz="2500">
              <a:latin typeface="Times New Roman" panose="02020603050405020304" pitchFamily="18" charset="0"/>
              <a:cs typeface="Times New Roman" panose="02020603050405020304" pitchFamily="18" charset="0"/>
            </a:endParaRPr>
          </a:p>
          <a:p>
            <a:pPr marL="457200" indent="-457200">
              <a:buFontTx/>
              <a:buChar char="-"/>
            </a:pPr>
            <a:r>
              <a:rPr lang="en-US" sz="2500">
                <a:latin typeface="Times New Roman" panose="02020603050405020304" pitchFamily="18" charset="0"/>
                <a:cs typeface="Times New Roman" panose="02020603050405020304" pitchFamily="18" charset="0"/>
              </a:rPr>
              <a:t>Ý tưởng:</a:t>
            </a:r>
          </a:p>
          <a:p>
            <a:pPr lvl="1" eaLnBrk="0" fontAlgn="base" hangingPunct="0">
              <a:spcBef>
                <a:spcPct val="0"/>
              </a:spcBef>
              <a:spcAft>
                <a:spcPct val="0"/>
              </a:spcAft>
              <a:buFontTx/>
              <a:buChar char="•"/>
            </a:pPr>
            <a:r>
              <a:rPr lang="en-US" altLang="en-US" sz="2500">
                <a:latin typeface="Times New Roman" panose="02020603050405020304" pitchFamily="18" charset="0"/>
                <a:cs typeface="Times New Roman" panose="02020603050405020304" pitchFamily="18" charset="0"/>
              </a:rPr>
              <a:t> Tính xác suất một dữ liệu thuộc về mỗi lớp</a:t>
            </a:r>
          </a:p>
          <a:p>
            <a:pPr lvl="1" eaLnBrk="0" fontAlgn="base" hangingPunct="0">
              <a:spcBef>
                <a:spcPct val="0"/>
              </a:spcBef>
              <a:spcAft>
                <a:spcPct val="0"/>
              </a:spcAft>
              <a:buFontTx/>
              <a:buChar char="•"/>
            </a:pPr>
            <a:r>
              <a:rPr lang="en-US" altLang="en-US" sz="2500">
                <a:latin typeface="Times New Roman" panose="02020603050405020304" pitchFamily="18" charset="0"/>
                <a:cs typeface="Times New Roman" panose="02020603050405020304" pitchFamily="18" charset="0"/>
              </a:rPr>
              <a:t> Chọn lớp có xác suất cao nhất</a:t>
            </a:r>
          </a:p>
          <a:p>
            <a:pPr marL="457200" indent="-457200">
              <a:buFontTx/>
              <a:buChar char="-"/>
            </a:pPr>
            <a:endParaRPr lang="en-US" sz="2700">
              <a:latin typeface="Times New Roman" panose="02020603050405020304" pitchFamily="18" charset="0"/>
              <a:cs typeface="Times New Roman" panose="02020603050405020304" pitchFamily="18" charset="0"/>
            </a:endParaRPr>
          </a:p>
        </p:txBody>
      </p:sp>
      <p:pic>
        <p:nvPicPr>
          <p:cNvPr id="2051" name="Picture 3" descr="Naive Bayes, Clearly Explained!!!">
            <a:extLst>
              <a:ext uri="{FF2B5EF4-FFF2-40B4-BE49-F238E27FC236}">
                <a16:creationId xmlns:a16="http://schemas.microsoft.com/office/drawing/2014/main" id="{CE171DEC-4122-30B0-DCBE-85F64FD703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9239" y="2993923"/>
            <a:ext cx="6869470" cy="38640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3871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E47C6-513D-DAA6-96F3-33DD3CCDC39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D49BC23-8F49-E1ED-C0B5-557DE35ADBF2}"/>
              </a:ext>
            </a:extLst>
          </p:cNvPr>
          <p:cNvSpPr txBox="1"/>
          <p:nvPr/>
        </p:nvSpPr>
        <p:spPr>
          <a:xfrm>
            <a:off x="466344" y="338330"/>
            <a:ext cx="2701381" cy="523220"/>
          </a:xfrm>
          <a:prstGeom prst="rect">
            <a:avLst/>
          </a:prstGeom>
          <a:noFill/>
        </p:spPr>
        <p:txBody>
          <a:bodyPr wrap="none" rtlCol="0">
            <a:spAutoFit/>
          </a:bodyPr>
          <a:lstStyle/>
          <a:p>
            <a:r>
              <a:rPr lang="en-US" sz="2800" b="1">
                <a:latin typeface="Times New Roman" panose="02020603050405020304" pitchFamily="18" charset="0"/>
                <a:cs typeface="Times New Roman" panose="02020603050405020304" pitchFamily="18" charset="0"/>
              </a:rPr>
              <a:t>Ưu nhược điểm:</a:t>
            </a:r>
          </a:p>
        </p:txBody>
      </p:sp>
      <p:graphicFrame>
        <p:nvGraphicFramePr>
          <p:cNvPr id="6" name="Table 5">
            <a:extLst>
              <a:ext uri="{FF2B5EF4-FFF2-40B4-BE49-F238E27FC236}">
                <a16:creationId xmlns:a16="http://schemas.microsoft.com/office/drawing/2014/main" id="{B23EC945-92EC-7B4D-AF13-F7B68C1DD479}"/>
              </a:ext>
            </a:extLst>
          </p:cNvPr>
          <p:cNvGraphicFramePr>
            <a:graphicFrameLocks noGrp="1"/>
          </p:cNvGraphicFramePr>
          <p:nvPr>
            <p:extLst>
              <p:ext uri="{D42A27DB-BD31-4B8C-83A1-F6EECF244321}">
                <p14:modId xmlns:p14="http://schemas.microsoft.com/office/powerpoint/2010/main" val="1043636586"/>
              </p:ext>
            </p:extLst>
          </p:nvPr>
        </p:nvGraphicFramePr>
        <p:xfrm>
          <a:off x="1702816" y="1146048"/>
          <a:ext cx="8128000" cy="47396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765874786"/>
                    </a:ext>
                  </a:extLst>
                </a:gridCol>
                <a:gridCol w="4064000">
                  <a:extLst>
                    <a:ext uri="{9D8B030D-6E8A-4147-A177-3AD203B41FA5}">
                      <a16:colId xmlns:a16="http://schemas.microsoft.com/office/drawing/2014/main" val="945854753"/>
                    </a:ext>
                  </a:extLst>
                </a:gridCol>
              </a:tblGrid>
              <a:tr h="370840">
                <a:tc>
                  <a:txBody>
                    <a:bodyPr/>
                    <a:lstStyle/>
                    <a:p>
                      <a:pPr>
                        <a:buNone/>
                      </a:pPr>
                      <a:r>
                        <a:rPr lang="vi-VN" sz="2500" b="1">
                          <a:latin typeface="+mj-lt"/>
                        </a:rPr>
                        <a:t>Ưu điểm</a:t>
                      </a:r>
                      <a:endParaRPr lang="vi-VN" sz="2500">
                        <a:latin typeface="+mj-lt"/>
                      </a:endParaRPr>
                    </a:p>
                  </a:txBody>
                  <a:tcPr anchor="ctr"/>
                </a:tc>
                <a:tc>
                  <a:txBody>
                    <a:bodyPr/>
                    <a:lstStyle/>
                    <a:p>
                      <a:pPr>
                        <a:buNone/>
                      </a:pPr>
                      <a:r>
                        <a:rPr lang="vi-VN" sz="2500" b="1">
                          <a:latin typeface="+mj-lt"/>
                        </a:rPr>
                        <a:t>Nhược điểm</a:t>
                      </a:r>
                      <a:endParaRPr lang="vi-VN" sz="2500">
                        <a:latin typeface="+mj-lt"/>
                      </a:endParaRPr>
                    </a:p>
                  </a:txBody>
                  <a:tcPr anchor="ctr"/>
                </a:tc>
                <a:extLst>
                  <a:ext uri="{0D108BD9-81ED-4DB2-BD59-A6C34878D82A}">
                    <a16:rowId xmlns:a16="http://schemas.microsoft.com/office/drawing/2014/main" val="446880564"/>
                  </a:ext>
                </a:extLst>
              </a:tr>
              <a:tr h="370840">
                <a:tc>
                  <a:txBody>
                    <a:bodyPr/>
                    <a:lstStyle/>
                    <a:p>
                      <a:pPr>
                        <a:buNone/>
                      </a:pPr>
                      <a:r>
                        <a:rPr lang="vi-VN" sz="2500">
                          <a:latin typeface="+mj-lt"/>
                        </a:rPr>
                        <a:t>Thuật toán đơn giản, dễ hiểu</a:t>
                      </a:r>
                    </a:p>
                  </a:txBody>
                  <a:tcPr anchor="ctr"/>
                </a:tc>
                <a:tc>
                  <a:txBody>
                    <a:bodyPr/>
                    <a:lstStyle/>
                    <a:p>
                      <a:pPr>
                        <a:buNone/>
                      </a:pPr>
                      <a:r>
                        <a:rPr lang="vi-VN" sz="2500">
                          <a:latin typeface="+mj-lt"/>
                        </a:rPr>
                        <a:t>Giả định các đặc trưng độc lập (không thực tế)</a:t>
                      </a:r>
                    </a:p>
                  </a:txBody>
                  <a:tcPr anchor="ctr"/>
                </a:tc>
                <a:extLst>
                  <a:ext uri="{0D108BD9-81ED-4DB2-BD59-A6C34878D82A}">
                    <a16:rowId xmlns:a16="http://schemas.microsoft.com/office/drawing/2014/main" val="711514945"/>
                  </a:ext>
                </a:extLst>
              </a:tr>
              <a:tr h="370840">
                <a:tc>
                  <a:txBody>
                    <a:bodyPr/>
                    <a:lstStyle/>
                    <a:p>
                      <a:pPr>
                        <a:buNone/>
                      </a:pPr>
                      <a:r>
                        <a:rPr lang="en-US" sz="2500">
                          <a:latin typeface="Times New Roman" panose="02020603050405020304" pitchFamily="18" charset="0"/>
                          <a:cs typeface="Times New Roman" panose="02020603050405020304" pitchFamily="18" charset="0"/>
                        </a:rPr>
                        <a:t>Huấn luyện và dự đoán rất nhanh</a:t>
                      </a:r>
                    </a:p>
                  </a:txBody>
                  <a:tcPr anchor="ctr"/>
                </a:tc>
                <a:tc>
                  <a:txBody>
                    <a:bodyPr/>
                    <a:lstStyle/>
                    <a:p>
                      <a:pPr>
                        <a:buNone/>
                      </a:pPr>
                      <a:r>
                        <a:rPr lang="vi-VN" sz="2500">
                          <a:latin typeface="+mj-lt"/>
                        </a:rPr>
                        <a:t>Không nắm bắt được ngữ nghĩa sâu</a:t>
                      </a:r>
                    </a:p>
                  </a:txBody>
                  <a:tcPr anchor="ctr"/>
                </a:tc>
                <a:extLst>
                  <a:ext uri="{0D108BD9-81ED-4DB2-BD59-A6C34878D82A}">
                    <a16:rowId xmlns:a16="http://schemas.microsoft.com/office/drawing/2014/main" val="3125032025"/>
                  </a:ext>
                </a:extLst>
              </a:tr>
              <a:tr h="370840">
                <a:tc>
                  <a:txBody>
                    <a:bodyPr/>
                    <a:lstStyle/>
                    <a:p>
                      <a:pPr>
                        <a:buNone/>
                      </a:pPr>
                      <a:r>
                        <a:rPr lang="en-US" sz="2500">
                          <a:latin typeface="Times New Roman" panose="02020603050405020304" pitchFamily="18" charset="0"/>
                          <a:cs typeface="Times New Roman" panose="02020603050405020304" pitchFamily="18" charset="0"/>
                        </a:rPr>
                        <a:t>Hoạt động tốt với dữ liệu văn bản lớn</a:t>
                      </a:r>
                    </a:p>
                  </a:txBody>
                  <a:tcPr anchor="ctr"/>
                </a:tc>
                <a:tc>
                  <a:txBody>
                    <a:bodyPr/>
                    <a:lstStyle/>
                    <a:p>
                      <a:pPr>
                        <a:buNone/>
                      </a:pPr>
                      <a:r>
                        <a:rPr lang="vi-VN" sz="2500">
                          <a:latin typeface="+mj-lt"/>
                        </a:rPr>
                        <a:t>Hiệu quả kém khi các đặc trưng phụ thuộc nhau</a:t>
                      </a:r>
                    </a:p>
                  </a:txBody>
                  <a:tcPr anchor="ctr"/>
                </a:tc>
                <a:extLst>
                  <a:ext uri="{0D108BD9-81ED-4DB2-BD59-A6C34878D82A}">
                    <a16:rowId xmlns:a16="http://schemas.microsoft.com/office/drawing/2014/main" val="3268630657"/>
                  </a:ext>
                </a:extLst>
              </a:tr>
              <a:tr h="370840">
                <a:tc>
                  <a:txBody>
                    <a:bodyPr/>
                    <a:lstStyle/>
                    <a:p>
                      <a:pPr>
                        <a:buNone/>
                      </a:pPr>
                      <a:r>
                        <a:rPr lang="en-US" sz="2500">
                          <a:latin typeface="Times New Roman" panose="02020603050405020304" pitchFamily="18" charset="0"/>
                          <a:cs typeface="Times New Roman" panose="02020603050405020304" pitchFamily="18" charset="0"/>
                        </a:rPr>
                        <a:t>Ít tốn tài nguyên tính toán</a:t>
                      </a:r>
                    </a:p>
                  </a:txBody>
                  <a:tcPr anchor="ctr"/>
                </a:tc>
                <a:tc>
                  <a:txBody>
                    <a:bodyPr/>
                    <a:lstStyle/>
                    <a:p>
                      <a:pPr>
                        <a:buNone/>
                      </a:pPr>
                      <a:r>
                        <a:rPr lang="en-US" sz="2500">
                          <a:latin typeface="Times New Roman" panose="02020603050405020304" pitchFamily="18" charset="0"/>
                          <a:cs typeface="Times New Roman" panose="02020603050405020304" pitchFamily="18" charset="0"/>
                        </a:rPr>
                        <a:t>Nhạy cảm với dữ liệu mất cân bằng</a:t>
                      </a:r>
                    </a:p>
                  </a:txBody>
                  <a:tcPr anchor="ctr"/>
                </a:tc>
                <a:extLst>
                  <a:ext uri="{0D108BD9-81ED-4DB2-BD59-A6C34878D82A}">
                    <a16:rowId xmlns:a16="http://schemas.microsoft.com/office/drawing/2014/main" val="4086258640"/>
                  </a:ext>
                </a:extLst>
              </a:tr>
              <a:tr h="370840">
                <a:tc>
                  <a:txBody>
                    <a:bodyPr/>
                    <a:lstStyle/>
                    <a:p>
                      <a:pPr>
                        <a:buNone/>
                      </a:pPr>
                      <a:r>
                        <a:rPr lang="en-US" sz="2500">
                          <a:latin typeface="Times New Roman" panose="02020603050405020304" pitchFamily="18" charset="0"/>
                          <a:cs typeface="Times New Roman" panose="02020603050405020304" pitchFamily="18" charset="0"/>
                        </a:rPr>
                        <a:t>Phù hợp làm mô hình baseline</a:t>
                      </a:r>
                    </a:p>
                  </a:txBody>
                  <a:tcPr anchor="ctr"/>
                </a:tc>
                <a:tc>
                  <a:txBody>
                    <a:bodyPr/>
                    <a:lstStyle/>
                    <a:p>
                      <a:pPr>
                        <a:buNone/>
                      </a:pPr>
                      <a:r>
                        <a:rPr lang="vi-VN" sz="2500">
                          <a:latin typeface="+mj-lt"/>
                        </a:rPr>
                        <a:t>Thường kém hơn SVM, Logistic Regression</a:t>
                      </a:r>
                    </a:p>
                  </a:txBody>
                  <a:tcPr anchor="ctr"/>
                </a:tc>
                <a:extLst>
                  <a:ext uri="{0D108BD9-81ED-4DB2-BD59-A6C34878D82A}">
                    <a16:rowId xmlns:a16="http://schemas.microsoft.com/office/drawing/2014/main" val="1059522243"/>
                  </a:ext>
                </a:extLst>
              </a:tr>
            </a:tbl>
          </a:graphicData>
        </a:graphic>
      </p:graphicFrame>
    </p:spTree>
    <p:extLst>
      <p:ext uri="{BB962C8B-B14F-4D97-AF65-F5344CB8AC3E}">
        <p14:creationId xmlns:p14="http://schemas.microsoft.com/office/powerpoint/2010/main" val="29817609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076AB-FAE5-AB8B-333B-511A0D5A388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23FE27-1AAA-1BA9-0FCA-4C2F076D7B90}"/>
              </a:ext>
            </a:extLst>
          </p:cNvPr>
          <p:cNvSpPr txBox="1"/>
          <p:nvPr/>
        </p:nvSpPr>
        <p:spPr>
          <a:xfrm>
            <a:off x="722377" y="429768"/>
            <a:ext cx="10991088" cy="2846933"/>
          </a:xfrm>
          <a:prstGeom prst="rect">
            <a:avLst/>
          </a:prstGeom>
          <a:noFill/>
        </p:spPr>
        <p:txBody>
          <a:bodyPr wrap="square" rtlCol="0">
            <a:spAutoFit/>
          </a:bodyPr>
          <a:lstStyle/>
          <a:p>
            <a:r>
              <a:rPr lang="en-US" sz="3000" b="1">
                <a:latin typeface="Times New Roman" panose="02020603050405020304" pitchFamily="18" charset="0"/>
                <a:cs typeface="Times New Roman" panose="02020603050405020304" pitchFamily="18" charset="0"/>
              </a:rPr>
              <a:t>SVM</a:t>
            </a:r>
            <a:r>
              <a:rPr lang="en-US" sz="3200" b="1">
                <a:latin typeface="Times New Roman" panose="02020603050405020304" pitchFamily="18" charset="0"/>
                <a:cs typeface="Times New Roman" panose="02020603050405020304" pitchFamily="18" charset="0"/>
              </a:rPr>
              <a:t>(Support Vector Machine)</a:t>
            </a:r>
            <a:endParaRPr lang="en-US" sz="3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SVM là một thuật toán Machine Learning có giám sát,</a:t>
            </a:r>
            <a:br>
              <a:rPr lang="en-US" sz="2000">
                <a:latin typeface="Times New Roman" panose="02020603050405020304" pitchFamily="18" charset="0"/>
                <a:cs typeface="Times New Roman" panose="02020603050405020304" pitchFamily="18" charset="0"/>
              </a:rPr>
            </a:br>
            <a:r>
              <a:rPr lang="en-US" sz="2000">
                <a:latin typeface="Times New Roman" panose="02020603050405020304" pitchFamily="18" charset="0"/>
                <a:cs typeface="Times New Roman" panose="02020603050405020304" pitchFamily="18" charset="0"/>
              </a:rPr>
              <a:t>dùng cho phân loại và hồi quy.</a:t>
            </a:r>
          </a:p>
          <a:p>
            <a:r>
              <a:rPr lang="en-US" sz="2000">
                <a:latin typeface="Times New Roman" panose="02020603050405020304" pitchFamily="18" charset="0"/>
                <a:cs typeface="Times New Roman" panose="02020603050405020304" pitchFamily="18" charset="0"/>
              </a:rPr>
              <a:t>- Ý tưởng:</a:t>
            </a:r>
          </a:p>
          <a:p>
            <a:pPr lvl="0" eaLnBrk="0" fontAlgn="base" hangingPunct="0">
              <a:spcBef>
                <a:spcPct val="0"/>
              </a:spcBef>
              <a:spcAft>
                <a:spcPct val="0"/>
              </a:spcAft>
              <a:buFontTx/>
              <a:buChar char="•"/>
            </a:pPr>
            <a:r>
              <a:rPr lang="en-US" altLang="en-US" sz="2000">
                <a:latin typeface="Times New Roman" panose="02020603050405020304" pitchFamily="18" charset="0"/>
                <a:cs typeface="Times New Roman" panose="02020603050405020304" pitchFamily="18" charset="0"/>
              </a:rPr>
              <a:t> Tìm siêu phẳng (hyperplane) phân tách các lớp</a:t>
            </a:r>
          </a:p>
          <a:p>
            <a:pPr lvl="0" eaLnBrk="0" fontAlgn="base" hangingPunct="0">
              <a:spcBef>
                <a:spcPct val="0"/>
              </a:spcBef>
              <a:spcAft>
                <a:spcPct val="0"/>
              </a:spcAft>
              <a:buFontTx/>
              <a:buChar char="•"/>
            </a:pPr>
            <a:r>
              <a:rPr lang="en-US" altLang="en-US" sz="2000">
                <a:latin typeface="Times New Roman" panose="02020603050405020304" pitchFamily="18" charset="0"/>
                <a:cs typeface="Times New Roman" panose="02020603050405020304" pitchFamily="18" charset="0"/>
              </a:rPr>
              <a:t> Sao cho khoảng cách biên (margin) tới các điểm gần nhất là lớn nhất</a:t>
            </a:r>
          </a:p>
          <a:p>
            <a:pPr lvl="0" eaLnBrk="0" fontAlgn="base" hangingPunct="0">
              <a:spcBef>
                <a:spcPct val="0"/>
              </a:spcBef>
              <a:spcAft>
                <a:spcPct val="0"/>
              </a:spcAft>
              <a:buFontTx/>
              <a:buChar char="•"/>
            </a:pPr>
            <a:r>
              <a:rPr lang="en-US" altLang="en-US" sz="2000">
                <a:latin typeface="Times New Roman" panose="02020603050405020304" pitchFamily="18" charset="0"/>
                <a:cs typeface="Times New Roman" panose="02020603050405020304" pitchFamily="18" charset="0"/>
              </a:rPr>
              <a:t> Các điểm quyết định ranh giới gọi là support vectors</a:t>
            </a:r>
          </a:p>
          <a:p>
            <a:pPr marL="457200" indent="-457200">
              <a:buFontTx/>
              <a:buChar char="-"/>
            </a:pPr>
            <a:endParaRPr lang="en-US" sz="2700">
              <a:latin typeface="Times New Roman" panose="02020603050405020304" pitchFamily="18" charset="0"/>
              <a:cs typeface="Times New Roman" panose="02020603050405020304" pitchFamily="18" charset="0"/>
            </a:endParaRPr>
          </a:p>
        </p:txBody>
      </p:sp>
      <p:pic>
        <p:nvPicPr>
          <p:cNvPr id="3075" name="Picture 3" descr="Machine Learning cơ bản">
            <a:extLst>
              <a:ext uri="{FF2B5EF4-FFF2-40B4-BE49-F238E27FC236}">
                <a16:creationId xmlns:a16="http://schemas.microsoft.com/office/drawing/2014/main" id="{F2DD423C-7098-F82C-18DD-19687B7BB6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5548" y="2915264"/>
            <a:ext cx="5663380" cy="3775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7248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90576-7AD2-A3C0-7B2A-F34C231580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318D7BD-A0A4-4178-C094-113F07721790}"/>
              </a:ext>
            </a:extLst>
          </p:cNvPr>
          <p:cNvSpPr txBox="1"/>
          <p:nvPr/>
        </p:nvSpPr>
        <p:spPr>
          <a:xfrm>
            <a:off x="466344" y="338330"/>
            <a:ext cx="2701381" cy="523220"/>
          </a:xfrm>
          <a:prstGeom prst="rect">
            <a:avLst/>
          </a:prstGeom>
          <a:noFill/>
        </p:spPr>
        <p:txBody>
          <a:bodyPr wrap="none" rtlCol="0">
            <a:spAutoFit/>
          </a:bodyPr>
          <a:lstStyle/>
          <a:p>
            <a:r>
              <a:rPr lang="en-US" sz="2800" b="1">
                <a:latin typeface="Times New Roman" panose="02020603050405020304" pitchFamily="18" charset="0"/>
                <a:cs typeface="Times New Roman" panose="02020603050405020304" pitchFamily="18" charset="0"/>
              </a:rPr>
              <a:t>Ưu nhược điểm:</a:t>
            </a:r>
          </a:p>
        </p:txBody>
      </p:sp>
      <p:graphicFrame>
        <p:nvGraphicFramePr>
          <p:cNvPr id="6" name="Table 5">
            <a:extLst>
              <a:ext uri="{FF2B5EF4-FFF2-40B4-BE49-F238E27FC236}">
                <a16:creationId xmlns:a16="http://schemas.microsoft.com/office/drawing/2014/main" id="{E65D2661-9FDE-C2A1-7AC2-F3562BFA28AF}"/>
              </a:ext>
            </a:extLst>
          </p:cNvPr>
          <p:cNvGraphicFramePr>
            <a:graphicFrameLocks noGrp="1"/>
          </p:cNvGraphicFramePr>
          <p:nvPr>
            <p:extLst>
              <p:ext uri="{D42A27DB-BD31-4B8C-83A1-F6EECF244321}">
                <p14:modId xmlns:p14="http://schemas.microsoft.com/office/powerpoint/2010/main" val="1422599937"/>
              </p:ext>
            </p:extLst>
          </p:nvPr>
        </p:nvGraphicFramePr>
        <p:xfrm>
          <a:off x="1817034" y="1912965"/>
          <a:ext cx="8128000" cy="43586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765874786"/>
                    </a:ext>
                  </a:extLst>
                </a:gridCol>
                <a:gridCol w="4064000">
                  <a:extLst>
                    <a:ext uri="{9D8B030D-6E8A-4147-A177-3AD203B41FA5}">
                      <a16:colId xmlns:a16="http://schemas.microsoft.com/office/drawing/2014/main" val="945854753"/>
                    </a:ext>
                  </a:extLst>
                </a:gridCol>
              </a:tblGrid>
              <a:tr h="370840">
                <a:tc>
                  <a:txBody>
                    <a:bodyPr/>
                    <a:lstStyle/>
                    <a:p>
                      <a:pPr>
                        <a:buNone/>
                      </a:pPr>
                      <a:r>
                        <a:rPr lang="vi-VN" sz="2500" b="1">
                          <a:latin typeface="+mj-lt"/>
                        </a:rPr>
                        <a:t>Ưu điểm</a:t>
                      </a:r>
                      <a:endParaRPr lang="vi-VN" sz="2500">
                        <a:latin typeface="+mj-lt"/>
                      </a:endParaRPr>
                    </a:p>
                  </a:txBody>
                  <a:tcPr anchor="ctr"/>
                </a:tc>
                <a:tc>
                  <a:txBody>
                    <a:bodyPr/>
                    <a:lstStyle/>
                    <a:p>
                      <a:pPr>
                        <a:buNone/>
                      </a:pPr>
                      <a:r>
                        <a:rPr lang="vi-VN" sz="2500" b="1">
                          <a:latin typeface="+mj-lt"/>
                        </a:rPr>
                        <a:t>Nhược điểm</a:t>
                      </a:r>
                      <a:endParaRPr lang="vi-VN" sz="2500">
                        <a:latin typeface="+mj-lt"/>
                      </a:endParaRPr>
                    </a:p>
                  </a:txBody>
                  <a:tcPr anchor="ctr"/>
                </a:tc>
                <a:extLst>
                  <a:ext uri="{0D108BD9-81ED-4DB2-BD59-A6C34878D82A}">
                    <a16:rowId xmlns:a16="http://schemas.microsoft.com/office/drawing/2014/main" val="446880564"/>
                  </a:ext>
                </a:extLst>
              </a:tr>
              <a:tr h="370840">
                <a:tc>
                  <a:txBody>
                    <a:bodyPr/>
                    <a:lstStyle/>
                    <a:p>
                      <a:pPr>
                        <a:buNone/>
                      </a:pPr>
                      <a:r>
                        <a:rPr lang="en-US" sz="2500">
                          <a:latin typeface="Times New Roman" panose="02020603050405020304" pitchFamily="18" charset="0"/>
                          <a:cs typeface="Times New Roman" panose="02020603050405020304" pitchFamily="18" charset="0"/>
                        </a:rPr>
                        <a:t>Độ chính xác cao</a:t>
                      </a:r>
                    </a:p>
                  </a:txBody>
                  <a:tcPr anchor="ctr"/>
                </a:tc>
                <a:tc>
                  <a:txBody>
                    <a:bodyPr/>
                    <a:lstStyle/>
                    <a:p>
                      <a:pPr>
                        <a:buNone/>
                      </a:pPr>
                      <a:r>
                        <a:rPr lang="en-US" sz="2500">
                          <a:latin typeface="Times New Roman" panose="02020603050405020304" pitchFamily="18" charset="0"/>
                          <a:cs typeface="Times New Roman" panose="02020603050405020304" pitchFamily="18" charset="0"/>
                        </a:rPr>
                        <a:t>Huấn luyện chậm khi dữ liệu lớn</a:t>
                      </a:r>
                    </a:p>
                  </a:txBody>
                  <a:tcPr anchor="ctr"/>
                </a:tc>
                <a:extLst>
                  <a:ext uri="{0D108BD9-81ED-4DB2-BD59-A6C34878D82A}">
                    <a16:rowId xmlns:a16="http://schemas.microsoft.com/office/drawing/2014/main" val="711514945"/>
                  </a:ext>
                </a:extLst>
              </a:tr>
              <a:tr h="370840">
                <a:tc>
                  <a:txBody>
                    <a:bodyPr/>
                    <a:lstStyle/>
                    <a:p>
                      <a:pPr>
                        <a:buNone/>
                      </a:pPr>
                      <a:r>
                        <a:rPr lang="en-US" sz="2500">
                          <a:latin typeface="Times New Roman" panose="02020603050405020304" pitchFamily="18" charset="0"/>
                          <a:cs typeface="Times New Roman" panose="02020603050405020304" pitchFamily="18" charset="0"/>
                        </a:rPr>
                        <a:t>Hoạt động tốt với dữ liệu nhiều chiều</a:t>
                      </a:r>
                    </a:p>
                  </a:txBody>
                  <a:tcPr anchor="ctr"/>
                </a:tc>
                <a:tc>
                  <a:txBody>
                    <a:bodyPr/>
                    <a:lstStyle/>
                    <a:p>
                      <a:pPr>
                        <a:buNone/>
                      </a:pPr>
                      <a:r>
                        <a:rPr lang="en-US" sz="2500">
                          <a:latin typeface="Times New Roman" panose="02020603050405020304" pitchFamily="18" charset="0"/>
                          <a:cs typeface="Times New Roman" panose="02020603050405020304" pitchFamily="18" charset="0"/>
                        </a:rPr>
                        <a:t>Khó diễn giải mô hình</a:t>
                      </a:r>
                    </a:p>
                  </a:txBody>
                  <a:tcPr anchor="ctr"/>
                </a:tc>
                <a:extLst>
                  <a:ext uri="{0D108BD9-81ED-4DB2-BD59-A6C34878D82A}">
                    <a16:rowId xmlns:a16="http://schemas.microsoft.com/office/drawing/2014/main" val="3125032025"/>
                  </a:ext>
                </a:extLst>
              </a:tr>
              <a:tr h="370840">
                <a:tc>
                  <a:txBody>
                    <a:bodyPr/>
                    <a:lstStyle/>
                    <a:p>
                      <a:pPr>
                        <a:buNone/>
                      </a:pPr>
                      <a:r>
                        <a:rPr lang="en-US" sz="2500">
                          <a:latin typeface="Times New Roman" panose="02020603050405020304" pitchFamily="18" charset="0"/>
                          <a:cs typeface="Times New Roman" panose="02020603050405020304" pitchFamily="18" charset="0"/>
                        </a:rPr>
                        <a:t>Ít bị overfitting khi margin lớn</a:t>
                      </a:r>
                    </a:p>
                  </a:txBody>
                  <a:tcPr anchor="ctr"/>
                </a:tc>
                <a:tc>
                  <a:txBody>
                    <a:bodyPr/>
                    <a:lstStyle/>
                    <a:p>
                      <a:pPr>
                        <a:buNone/>
                      </a:pPr>
                      <a:r>
                        <a:rPr lang="en-US" sz="2500">
                          <a:latin typeface="Times New Roman" panose="02020603050405020304" pitchFamily="18" charset="0"/>
                          <a:cs typeface="Times New Roman" panose="02020603050405020304" pitchFamily="18" charset="0"/>
                        </a:rPr>
                        <a:t>Cần tuning tham số (C, kernel)</a:t>
                      </a:r>
                    </a:p>
                  </a:txBody>
                  <a:tcPr anchor="ctr"/>
                </a:tc>
                <a:extLst>
                  <a:ext uri="{0D108BD9-81ED-4DB2-BD59-A6C34878D82A}">
                    <a16:rowId xmlns:a16="http://schemas.microsoft.com/office/drawing/2014/main" val="3268630657"/>
                  </a:ext>
                </a:extLst>
              </a:tr>
              <a:tr h="370840">
                <a:tc>
                  <a:txBody>
                    <a:bodyPr/>
                    <a:lstStyle/>
                    <a:p>
                      <a:pPr>
                        <a:buNone/>
                      </a:pPr>
                      <a:r>
                        <a:rPr lang="en-US" sz="2500">
                          <a:latin typeface="Times New Roman" panose="02020603050405020304" pitchFamily="18" charset="0"/>
                          <a:cs typeface="Times New Roman" panose="02020603050405020304" pitchFamily="18" charset="0"/>
                        </a:rPr>
                        <a:t>Hiệu quả trong phân loại văn bản</a:t>
                      </a:r>
                    </a:p>
                  </a:txBody>
                  <a:tcPr anchor="ctr"/>
                </a:tc>
                <a:tc>
                  <a:txBody>
                    <a:bodyPr/>
                    <a:lstStyle/>
                    <a:p>
                      <a:pPr>
                        <a:buNone/>
                      </a:pPr>
                      <a:r>
                        <a:rPr lang="en-US" sz="2500">
                          <a:latin typeface="Times New Roman" panose="02020603050405020304" pitchFamily="18" charset="0"/>
                          <a:cs typeface="Times New Roman" panose="02020603050405020304" pitchFamily="18" charset="0"/>
                        </a:rPr>
                        <a:t>Không trả về xác suất trực tiếp</a:t>
                      </a:r>
                    </a:p>
                  </a:txBody>
                  <a:tcPr anchor="ctr"/>
                </a:tc>
                <a:extLst>
                  <a:ext uri="{0D108BD9-81ED-4DB2-BD59-A6C34878D82A}">
                    <a16:rowId xmlns:a16="http://schemas.microsoft.com/office/drawing/2014/main" val="4086258640"/>
                  </a:ext>
                </a:extLst>
              </a:tr>
              <a:tr h="370840">
                <a:tc>
                  <a:txBody>
                    <a:bodyPr/>
                    <a:lstStyle/>
                    <a:p>
                      <a:pPr>
                        <a:buNone/>
                      </a:pPr>
                      <a:r>
                        <a:rPr lang="en-US" sz="2500">
                          <a:latin typeface="Times New Roman" panose="02020603050405020304" pitchFamily="18" charset="0"/>
                          <a:cs typeface="Times New Roman" panose="02020603050405020304" pitchFamily="18" charset="0"/>
                        </a:rPr>
                        <a:t>Phù hợp với TF-IDF, BoW</a:t>
                      </a:r>
                    </a:p>
                  </a:txBody>
                  <a:tcPr anchor="ctr"/>
                </a:tc>
                <a:tc>
                  <a:txBody>
                    <a:bodyPr/>
                    <a:lstStyle/>
                    <a:p>
                      <a:pPr>
                        <a:buNone/>
                      </a:pPr>
                      <a:r>
                        <a:rPr lang="en-US" sz="2500">
                          <a:latin typeface="Times New Roman" panose="02020603050405020304" pitchFamily="18" charset="0"/>
                          <a:cs typeface="Times New Roman" panose="02020603050405020304" pitchFamily="18" charset="0"/>
                        </a:rPr>
                        <a:t>Nhạy cảm với lựa chọn kernel</a:t>
                      </a:r>
                    </a:p>
                  </a:txBody>
                  <a:tcPr anchor="ctr"/>
                </a:tc>
                <a:extLst>
                  <a:ext uri="{0D108BD9-81ED-4DB2-BD59-A6C34878D82A}">
                    <a16:rowId xmlns:a16="http://schemas.microsoft.com/office/drawing/2014/main" val="1059522243"/>
                  </a:ext>
                </a:extLst>
              </a:tr>
            </a:tbl>
          </a:graphicData>
        </a:graphic>
      </p:graphicFrame>
    </p:spTree>
    <p:extLst>
      <p:ext uri="{BB962C8B-B14F-4D97-AF65-F5344CB8AC3E}">
        <p14:creationId xmlns:p14="http://schemas.microsoft.com/office/powerpoint/2010/main" val="2876859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C7124-1109-5A06-CA33-55170A1500E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A4455D-BB77-C70B-4CA5-2A2B94B07E0F}"/>
              </a:ext>
            </a:extLst>
          </p:cNvPr>
          <p:cNvSpPr txBox="1"/>
          <p:nvPr/>
        </p:nvSpPr>
        <p:spPr>
          <a:xfrm>
            <a:off x="334296" y="235975"/>
            <a:ext cx="4820550" cy="553998"/>
          </a:xfrm>
          <a:prstGeom prst="rect">
            <a:avLst/>
          </a:prstGeom>
          <a:noFill/>
        </p:spPr>
        <p:txBody>
          <a:bodyPr wrap="none" rtlCol="0">
            <a:spAutoFit/>
          </a:bodyPr>
          <a:lstStyle/>
          <a:p>
            <a:r>
              <a:rPr lang="en-US" sz="3000" b="1">
                <a:latin typeface="Times New Roman" panose="02020603050405020304" pitchFamily="18" charset="0"/>
                <a:cs typeface="Times New Roman" panose="02020603050405020304" pitchFamily="18" charset="0"/>
              </a:rPr>
              <a:t>Các chỉ số đánh giá mô hình</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66BAA05E-941E-1870-0C70-A52D6988E420}"/>
                  </a:ext>
                </a:extLst>
              </p:cNvPr>
              <p:cNvSpPr txBox="1"/>
              <p:nvPr/>
            </p:nvSpPr>
            <p:spPr>
              <a:xfrm>
                <a:off x="334296" y="973394"/>
                <a:ext cx="11641394" cy="4739631"/>
              </a:xfrm>
              <a:prstGeom prst="rect">
                <a:avLst/>
              </a:prstGeom>
              <a:noFill/>
            </p:spPr>
            <p:txBody>
              <a:bodyPr wrap="square" rtlCol="0">
                <a:spAutoFit/>
              </a:bodyPr>
              <a:lstStyle/>
              <a:p>
                <a:pPr marL="285750" indent="-285750">
                  <a:buFont typeface="Wingdings" panose="05000000000000000000" pitchFamily="2" charset="2"/>
                  <a:buChar char="v"/>
                </a:pPr>
                <a:r>
                  <a:rPr lang="vi-VN">
                    <a:latin typeface="+mj-lt"/>
                  </a:rPr>
                  <a:t>Precision đo lường mức độ chính xác của các dự đoán là Positive:</a:t>
                </a:r>
              </a:p>
              <a:p>
                <a14:m>
                  <m:oMathPara xmlns:m="http://schemas.openxmlformats.org/officeDocument/2006/math">
                    <m:oMathParaPr>
                      <m:jc m:val="centerGroup"/>
                    </m:oMathParaPr>
                    <m:oMath xmlns:m="http://schemas.openxmlformats.org/officeDocument/2006/math">
                      <m:r>
                        <m:rPr>
                          <m:nor/>
                        </m:rPr>
                        <a:rPr lang="vi-VN">
                          <a:latin typeface="+mj-lt"/>
                        </a:rPr>
                        <m:t>Precision</m:t>
                      </m:r>
                      <m:r>
                        <a:rPr lang="vi-VN" b="0" smtClean="0">
                          <a:latin typeface="Cambria Math" panose="02040503050406030204" pitchFamily="18" charset="0"/>
                        </a:rPr>
                        <m:t>=</m:t>
                      </m:r>
                      <m:f>
                        <m:fPr>
                          <m:ctrlPr>
                            <a:rPr lang="ar-AE" i="1">
                              <a:latin typeface="+mj-lt"/>
                            </a:rPr>
                          </m:ctrlPr>
                        </m:fPr>
                        <m:num>
                          <m:r>
                            <a:rPr lang="ar-AE" b="0" i="1" smtClean="0">
                              <a:latin typeface="Cambria Math" panose="02040503050406030204" pitchFamily="18" charset="0"/>
                            </a:rPr>
                            <m:t>𝑇𝑃</m:t>
                          </m:r>
                        </m:num>
                        <m:den>
                          <m:r>
                            <a:rPr lang="ar-AE" b="0" i="1" smtClean="0">
                              <a:latin typeface="Cambria Math" panose="02040503050406030204" pitchFamily="18" charset="0"/>
                            </a:rPr>
                            <m:t>𝑇𝑃</m:t>
                          </m:r>
                          <m:r>
                            <a:rPr lang="ar-AE" b="0" smtClean="0">
                              <a:latin typeface="Cambria Math" panose="02040503050406030204" pitchFamily="18" charset="0"/>
                            </a:rPr>
                            <m:t>+</m:t>
                          </m:r>
                          <m:r>
                            <a:rPr lang="ar-AE" b="0" i="1" smtClean="0">
                              <a:latin typeface="Cambria Math" panose="02040503050406030204" pitchFamily="18" charset="0"/>
                            </a:rPr>
                            <m:t>𝐹𝑃</m:t>
                          </m:r>
                        </m:den>
                      </m:f>
                    </m:oMath>
                  </m:oMathPara>
                </a14:m>
                <a:endParaRPr lang="ar-AE">
                  <a:latin typeface="+mj-lt"/>
                </a:endParaRPr>
              </a:p>
              <a:p>
                <a:r>
                  <a:rPr lang="vi-VN">
                    <a:latin typeface="+mj-lt"/>
                  </a:rPr>
                  <a:t>Giải thích trực quan:</a:t>
                </a:r>
              </a:p>
              <a:p>
                <a:pPr lvl="1"/>
                <a:r>
                  <a:rPr lang="vi-VN">
                    <a:latin typeface="+mj-lt"/>
                  </a:rPr>
                  <a:t>Trong tất cả các bài mà mô hình dự đoán là “fake” (Positive), có bao nhiêu bài thật sự là fake?</a:t>
                </a:r>
              </a:p>
              <a:p>
                <a:pPr lvl="1"/>
                <a:r>
                  <a:rPr lang="vi-VN">
                    <a:latin typeface="+mj-lt"/>
                  </a:rPr>
                  <a:t>Nếu precision cao → ít false positive</a:t>
                </a:r>
              </a:p>
              <a:p>
                <a:endParaRPr lang="en-US">
                  <a:latin typeface="+mj-lt"/>
                </a:endParaRPr>
              </a:p>
              <a:p>
                <a:endParaRPr lang="en-US">
                  <a:latin typeface="+mj-lt"/>
                </a:endParaRPr>
              </a:p>
              <a:p>
                <a:endParaRPr lang="en-US">
                  <a:latin typeface="+mj-lt"/>
                </a:endParaRPr>
              </a:p>
              <a:p>
                <a:pPr marL="285750" indent="-285750">
                  <a:buFont typeface="Wingdings" panose="05000000000000000000" pitchFamily="2" charset="2"/>
                  <a:buChar char="v"/>
                </a:pPr>
                <a:r>
                  <a:rPr lang="vi-VN">
                    <a:latin typeface="+mj-lt"/>
                  </a:rPr>
                  <a:t>Recall (Độ nhạy / Tỷ lệ phát hiện)</a:t>
                </a:r>
              </a:p>
              <a:p>
                <a:r>
                  <a:rPr lang="vi-VN">
                    <a:latin typeface="+mj-lt"/>
                  </a:rPr>
                  <a:t>Recall đo lường khả năng phát hiện tất cả các trường hợp Positive thực sự:</a:t>
                </a:r>
              </a:p>
              <a:p>
                <a14:m>
                  <m:oMathPara xmlns:m="http://schemas.openxmlformats.org/officeDocument/2006/math">
                    <m:oMathParaPr>
                      <m:jc m:val="centerGroup"/>
                    </m:oMathParaPr>
                    <m:oMath xmlns:m="http://schemas.openxmlformats.org/officeDocument/2006/math">
                      <m:r>
                        <m:rPr>
                          <m:nor/>
                        </m:rPr>
                        <a:rPr lang="vi-VN">
                          <a:latin typeface="+mj-lt"/>
                        </a:rPr>
                        <m:t>Recall</m:t>
                      </m:r>
                      <m:r>
                        <a:rPr lang="vi-VN" b="0" smtClean="0">
                          <a:latin typeface="Cambria Math" panose="02040503050406030204" pitchFamily="18" charset="0"/>
                        </a:rPr>
                        <m:t>=</m:t>
                      </m:r>
                      <m:f>
                        <m:fPr>
                          <m:ctrlPr>
                            <a:rPr lang="ar-AE" i="1">
                              <a:latin typeface="+mj-lt"/>
                            </a:rPr>
                          </m:ctrlPr>
                        </m:fPr>
                        <m:num>
                          <m:r>
                            <a:rPr lang="ar-AE" b="0" i="1" smtClean="0">
                              <a:latin typeface="Cambria Math" panose="02040503050406030204" pitchFamily="18" charset="0"/>
                            </a:rPr>
                            <m:t>𝑇𝑃</m:t>
                          </m:r>
                        </m:num>
                        <m:den>
                          <m:r>
                            <a:rPr lang="ar-AE" b="0" i="1" smtClean="0">
                              <a:latin typeface="Cambria Math" panose="02040503050406030204" pitchFamily="18" charset="0"/>
                            </a:rPr>
                            <m:t>𝑇𝑃</m:t>
                          </m:r>
                          <m:r>
                            <a:rPr lang="ar-AE" b="0" smtClean="0">
                              <a:latin typeface="Cambria Math" panose="02040503050406030204" pitchFamily="18" charset="0"/>
                            </a:rPr>
                            <m:t>+</m:t>
                          </m:r>
                          <m:r>
                            <a:rPr lang="ar-AE" b="0" i="1" smtClean="0">
                              <a:latin typeface="Cambria Math" panose="02040503050406030204" pitchFamily="18" charset="0"/>
                            </a:rPr>
                            <m:t>𝐹𝑁</m:t>
                          </m:r>
                        </m:den>
                      </m:f>
                    </m:oMath>
                  </m:oMathPara>
                </a14:m>
                <a:endParaRPr lang="ar-AE">
                  <a:latin typeface="+mj-lt"/>
                </a:endParaRPr>
              </a:p>
              <a:p>
                <a:r>
                  <a:rPr lang="vi-VN">
                    <a:latin typeface="+mj-lt"/>
                  </a:rPr>
                  <a:t>Giải thích trực quan:</a:t>
                </a:r>
              </a:p>
              <a:p>
                <a:pPr lvl="1"/>
                <a:r>
                  <a:rPr lang="vi-VN">
                    <a:latin typeface="+mj-lt"/>
                  </a:rPr>
                  <a:t>Trong tất cả các bài thật sự là fake (Positive), mô hình phát hiện được bao nhiêu?</a:t>
                </a:r>
              </a:p>
              <a:p>
                <a:pPr lvl="1"/>
                <a:r>
                  <a:rPr lang="vi-VN">
                    <a:latin typeface="+mj-lt"/>
                  </a:rPr>
                  <a:t>Nếu recall cao → ít false negative</a:t>
                </a:r>
              </a:p>
              <a:p>
                <a:endParaRPr lang="en-US"/>
              </a:p>
            </p:txBody>
          </p:sp>
        </mc:Choice>
        <mc:Fallback>
          <p:sp>
            <p:nvSpPr>
              <p:cNvPr id="4" name="TextBox 3">
                <a:extLst>
                  <a:ext uri="{FF2B5EF4-FFF2-40B4-BE49-F238E27FC236}">
                    <a16:creationId xmlns:a16="http://schemas.microsoft.com/office/drawing/2014/main" id="{66BAA05E-941E-1870-0C70-A52D6988E420}"/>
                  </a:ext>
                </a:extLst>
              </p:cNvPr>
              <p:cNvSpPr txBox="1">
                <a:spLocks noRot="1" noChangeAspect="1" noMove="1" noResize="1" noEditPoints="1" noAdjustHandles="1" noChangeArrowheads="1" noChangeShapeType="1" noTextEdit="1"/>
              </p:cNvSpPr>
              <p:nvPr/>
            </p:nvSpPr>
            <p:spPr>
              <a:xfrm>
                <a:off x="334296" y="973394"/>
                <a:ext cx="11641394" cy="4739631"/>
              </a:xfrm>
              <a:prstGeom prst="rect">
                <a:avLst/>
              </a:prstGeom>
              <a:blipFill>
                <a:blip r:embed="rId2"/>
                <a:stretch>
                  <a:fillRect l="-471" t="-772"/>
                </a:stretch>
              </a:blipFill>
            </p:spPr>
            <p:txBody>
              <a:bodyPr/>
              <a:lstStyle/>
              <a:p>
                <a:r>
                  <a:rPr lang="en-US">
                    <a:noFill/>
                  </a:rPr>
                  <a:t> </a:t>
                </a:r>
              </a:p>
            </p:txBody>
          </p:sp>
        </mc:Fallback>
      </mc:AlternateContent>
    </p:spTree>
    <p:extLst>
      <p:ext uri="{BB962C8B-B14F-4D97-AF65-F5344CB8AC3E}">
        <p14:creationId xmlns:p14="http://schemas.microsoft.com/office/powerpoint/2010/main" val="3047953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BD54D-8413-EA00-FDBD-FB0072F06B9E}"/>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EC1CF90-2C11-AFA2-DA6E-739B4B8637AB}"/>
              </a:ext>
            </a:extLst>
          </p:cNvPr>
          <p:cNvGraphicFramePr>
            <a:graphicFrameLocks noGrp="1"/>
          </p:cNvGraphicFramePr>
          <p:nvPr>
            <p:extLst>
              <p:ext uri="{D42A27DB-BD31-4B8C-83A1-F6EECF244321}">
                <p14:modId xmlns:p14="http://schemas.microsoft.com/office/powerpoint/2010/main" val="967054821"/>
              </p:ext>
            </p:extLst>
          </p:nvPr>
        </p:nvGraphicFramePr>
        <p:xfrm>
          <a:off x="1885148" y="2756310"/>
          <a:ext cx="8518015" cy="2108200"/>
        </p:xfrm>
        <a:graphic>
          <a:graphicData uri="http://schemas.openxmlformats.org/drawingml/2006/table">
            <a:tbl>
              <a:tblPr firstRow="1" bandRow="1">
                <a:tableStyleId>{5C22544A-7EE6-4342-B048-85BDC9FD1C3A}</a:tableStyleId>
              </a:tblPr>
              <a:tblGrid>
                <a:gridCol w="1703603">
                  <a:extLst>
                    <a:ext uri="{9D8B030D-6E8A-4147-A177-3AD203B41FA5}">
                      <a16:colId xmlns:a16="http://schemas.microsoft.com/office/drawing/2014/main" val="41787900"/>
                    </a:ext>
                  </a:extLst>
                </a:gridCol>
                <a:gridCol w="1703603">
                  <a:extLst>
                    <a:ext uri="{9D8B030D-6E8A-4147-A177-3AD203B41FA5}">
                      <a16:colId xmlns:a16="http://schemas.microsoft.com/office/drawing/2014/main" val="1993805744"/>
                    </a:ext>
                  </a:extLst>
                </a:gridCol>
                <a:gridCol w="1703603">
                  <a:extLst>
                    <a:ext uri="{9D8B030D-6E8A-4147-A177-3AD203B41FA5}">
                      <a16:colId xmlns:a16="http://schemas.microsoft.com/office/drawing/2014/main" val="3515343066"/>
                    </a:ext>
                  </a:extLst>
                </a:gridCol>
                <a:gridCol w="1703603">
                  <a:extLst>
                    <a:ext uri="{9D8B030D-6E8A-4147-A177-3AD203B41FA5}">
                      <a16:colId xmlns:a16="http://schemas.microsoft.com/office/drawing/2014/main" val="2767606088"/>
                    </a:ext>
                  </a:extLst>
                </a:gridCol>
                <a:gridCol w="1703603">
                  <a:extLst>
                    <a:ext uri="{9D8B030D-6E8A-4147-A177-3AD203B41FA5}">
                      <a16:colId xmlns:a16="http://schemas.microsoft.com/office/drawing/2014/main" val="4144345812"/>
                    </a:ext>
                  </a:extLst>
                </a:gridCol>
              </a:tblGrid>
              <a:tr h="0">
                <a:tc>
                  <a:txBody>
                    <a:bodyPr/>
                    <a:lstStyle/>
                    <a:p>
                      <a:pPr algn="ctr" fontAlgn="ctr">
                        <a:buNone/>
                      </a:pPr>
                      <a:r>
                        <a:rPr lang="en-US" sz="2000">
                          <a:effectLst/>
                          <a:latin typeface="Times New Roman" panose="02020603050405020304" pitchFamily="18" charset="0"/>
                          <a:cs typeface="Times New Roman" panose="02020603050405020304" pitchFamily="18" charset="0"/>
                        </a:rPr>
                        <a:t>Model</a:t>
                      </a:r>
                    </a:p>
                  </a:txBody>
                  <a:tcPr marL="60960" marR="60960" marT="30480" marB="30480" anchor="ctr"/>
                </a:tc>
                <a:tc>
                  <a:txBody>
                    <a:bodyPr/>
                    <a:lstStyle/>
                    <a:p>
                      <a:pPr algn="ctr" fontAlgn="ctr">
                        <a:buNone/>
                      </a:pPr>
                      <a:r>
                        <a:rPr lang="en-US" sz="2000">
                          <a:effectLst/>
                          <a:latin typeface="Times New Roman" panose="02020603050405020304" pitchFamily="18" charset="0"/>
                          <a:cs typeface="Times New Roman" panose="02020603050405020304" pitchFamily="18" charset="0"/>
                        </a:rPr>
                        <a:t>Accuracy</a:t>
                      </a:r>
                    </a:p>
                  </a:txBody>
                  <a:tcPr marL="60960" marR="60960" marT="30480" marB="30480" anchor="ctr"/>
                </a:tc>
                <a:tc>
                  <a:txBody>
                    <a:bodyPr/>
                    <a:lstStyle/>
                    <a:p>
                      <a:pPr algn="ctr" fontAlgn="ctr">
                        <a:buNone/>
                      </a:pPr>
                      <a:r>
                        <a:rPr lang="en-US" sz="2000">
                          <a:effectLst/>
                          <a:latin typeface="Times New Roman" panose="02020603050405020304" pitchFamily="18" charset="0"/>
                          <a:cs typeface="Times New Roman" panose="02020603050405020304" pitchFamily="18" charset="0"/>
                        </a:rPr>
                        <a:t>Precision</a:t>
                      </a:r>
                    </a:p>
                  </a:txBody>
                  <a:tcPr marL="60960" marR="60960" marT="30480" marB="30480" anchor="ctr"/>
                </a:tc>
                <a:tc>
                  <a:txBody>
                    <a:bodyPr/>
                    <a:lstStyle/>
                    <a:p>
                      <a:pPr algn="ctr" fontAlgn="ctr">
                        <a:buNone/>
                      </a:pPr>
                      <a:r>
                        <a:rPr lang="en-US" sz="2000">
                          <a:effectLst/>
                          <a:latin typeface="Times New Roman" panose="02020603050405020304" pitchFamily="18" charset="0"/>
                          <a:cs typeface="Times New Roman" panose="02020603050405020304" pitchFamily="18" charset="0"/>
                        </a:rPr>
                        <a:t>Recall</a:t>
                      </a:r>
                    </a:p>
                  </a:txBody>
                  <a:tcPr marL="60960" marR="60960" marT="30480" marB="30480" anchor="ctr"/>
                </a:tc>
                <a:tc>
                  <a:txBody>
                    <a:bodyPr/>
                    <a:lstStyle/>
                    <a:p>
                      <a:pPr algn="ctr"/>
                      <a:r>
                        <a:rPr lang="en-US" sz="2000">
                          <a:effectLst/>
                          <a:latin typeface="Times New Roman" panose="02020603050405020304" pitchFamily="18" charset="0"/>
                          <a:cs typeface="Times New Roman" panose="02020603050405020304" pitchFamily="18" charset="0"/>
                        </a:rPr>
                        <a:t>F1-score</a:t>
                      </a:r>
                      <a:endParaRPr lang="en-US" sz="2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44274755"/>
                  </a:ext>
                </a:extLst>
              </a:tr>
              <a:tr h="370840">
                <a:tc>
                  <a:txBody>
                    <a:bodyPr/>
                    <a:lstStyle/>
                    <a:p>
                      <a:pPr algn="ctr">
                        <a:buNone/>
                      </a:pPr>
                      <a:r>
                        <a:rPr lang="en-US" sz="2000">
                          <a:effectLst/>
                          <a:latin typeface="Times New Roman" panose="02020603050405020304" pitchFamily="18" charset="0"/>
                          <a:cs typeface="Times New Roman" panose="02020603050405020304" pitchFamily="18" charset="0"/>
                        </a:rPr>
                        <a:t>Naive Bayes</a:t>
                      </a:r>
                    </a:p>
                  </a:txBody>
                  <a:tcPr marL="60960" marR="60960" marT="30480" marB="30480" anchor="ctr"/>
                </a:tc>
                <a:tc>
                  <a:txBody>
                    <a:bodyPr/>
                    <a:lstStyle/>
                    <a:p>
                      <a:pPr algn="ctr">
                        <a:buNone/>
                      </a:pPr>
                      <a:r>
                        <a:rPr lang="en-US" sz="2000">
                          <a:effectLst/>
                          <a:latin typeface="Times New Roman" panose="02020603050405020304" pitchFamily="18" charset="0"/>
                          <a:cs typeface="Times New Roman" panose="02020603050405020304" pitchFamily="18" charset="0"/>
                        </a:rPr>
                        <a:t>88,30%</a:t>
                      </a:r>
                    </a:p>
                  </a:txBody>
                  <a:tcPr marL="60960" marR="60960" marT="30480" marB="30480" anchor="ctr"/>
                </a:tc>
                <a:tc>
                  <a:txBody>
                    <a:bodyPr/>
                    <a:lstStyle/>
                    <a:p>
                      <a:pPr algn="ctr">
                        <a:buNone/>
                      </a:pPr>
                      <a:r>
                        <a:rPr lang="en-US" sz="2000">
                          <a:effectLst/>
                          <a:latin typeface="Times New Roman" panose="02020603050405020304" pitchFamily="18" charset="0"/>
                          <a:cs typeface="Times New Roman" panose="02020603050405020304" pitchFamily="18" charset="0"/>
                        </a:rPr>
                        <a:t>82,2%</a:t>
                      </a:r>
                    </a:p>
                  </a:txBody>
                  <a:tcPr marL="60960" marR="60960" marT="30480" marB="30480" anchor="ctr"/>
                </a:tc>
                <a:tc>
                  <a:txBody>
                    <a:bodyPr/>
                    <a:lstStyle/>
                    <a:p>
                      <a:pPr algn="ctr">
                        <a:buNone/>
                      </a:pPr>
                      <a:r>
                        <a:rPr lang="en-US" sz="2000">
                          <a:effectLst/>
                          <a:latin typeface="Times New Roman" panose="02020603050405020304" pitchFamily="18" charset="0"/>
                          <a:cs typeface="Times New Roman" panose="02020603050405020304" pitchFamily="18" charset="0"/>
                        </a:rPr>
                        <a:t>94,8%</a:t>
                      </a:r>
                    </a:p>
                  </a:txBody>
                  <a:tcPr marL="60960" marR="60960" marT="30480" marB="30480" anchor="ctr"/>
                </a:tc>
                <a:tc>
                  <a:txBody>
                    <a:bodyPr/>
                    <a:lstStyle/>
                    <a:p>
                      <a:pPr algn="ctr">
                        <a:buNone/>
                      </a:pPr>
                      <a:r>
                        <a:rPr lang="en-US" sz="2000">
                          <a:effectLst/>
                          <a:latin typeface="Times New Roman" panose="02020603050405020304" pitchFamily="18" charset="0"/>
                          <a:cs typeface="Times New Roman" panose="02020603050405020304" pitchFamily="18" charset="0"/>
                        </a:rPr>
                        <a:t>88,09%</a:t>
                      </a:r>
                    </a:p>
                  </a:txBody>
                  <a:tcPr marL="60960" marR="60960" marT="30480" marB="30480" anchor="ctr"/>
                </a:tc>
                <a:extLst>
                  <a:ext uri="{0D108BD9-81ED-4DB2-BD59-A6C34878D82A}">
                    <a16:rowId xmlns:a16="http://schemas.microsoft.com/office/drawing/2014/main" val="3978867784"/>
                  </a:ext>
                </a:extLst>
              </a:tr>
              <a:tr h="370840">
                <a:tc>
                  <a:txBody>
                    <a:bodyPr/>
                    <a:lstStyle/>
                    <a:p>
                      <a:pPr algn="ctr">
                        <a:buNone/>
                      </a:pPr>
                      <a:r>
                        <a:rPr lang="en-US" sz="2000">
                          <a:effectLst/>
                          <a:latin typeface="Times New Roman" panose="02020603050405020304" pitchFamily="18" charset="0"/>
                          <a:cs typeface="Times New Roman" panose="02020603050405020304" pitchFamily="18" charset="0"/>
                        </a:rPr>
                        <a:t>Logistic Regression</a:t>
                      </a:r>
                    </a:p>
                  </a:txBody>
                  <a:tcPr marL="60960" marR="60960" marT="30480" marB="30480" anchor="ctr"/>
                </a:tc>
                <a:tc>
                  <a:txBody>
                    <a:bodyPr/>
                    <a:lstStyle/>
                    <a:p>
                      <a:pPr algn="ctr">
                        <a:buNone/>
                      </a:pPr>
                      <a:r>
                        <a:rPr lang="en-US" sz="2000">
                          <a:effectLst/>
                          <a:latin typeface="Times New Roman" panose="02020603050405020304" pitchFamily="18" charset="0"/>
                          <a:cs typeface="Times New Roman" panose="02020603050405020304" pitchFamily="18" charset="0"/>
                        </a:rPr>
                        <a:t>89,47%</a:t>
                      </a:r>
                    </a:p>
                  </a:txBody>
                  <a:tcPr marL="60960" marR="60960" marT="30480" marB="30480" anchor="ctr"/>
                </a:tc>
                <a:tc>
                  <a:txBody>
                    <a:bodyPr/>
                    <a:lstStyle/>
                    <a:p>
                      <a:pPr algn="ctr">
                        <a:buNone/>
                      </a:pPr>
                      <a:r>
                        <a:rPr lang="en-US" sz="2000">
                          <a:effectLst/>
                          <a:latin typeface="Times New Roman" panose="02020603050405020304" pitchFamily="18" charset="0"/>
                          <a:cs typeface="Times New Roman" panose="02020603050405020304" pitchFamily="18" charset="0"/>
                        </a:rPr>
                        <a:t>88,46%</a:t>
                      </a:r>
                    </a:p>
                  </a:txBody>
                  <a:tcPr marL="60960" marR="60960" marT="30480" marB="30480" anchor="ctr"/>
                </a:tc>
                <a:tc>
                  <a:txBody>
                    <a:bodyPr/>
                    <a:lstStyle/>
                    <a:p>
                      <a:pPr algn="ctr">
                        <a:buNone/>
                      </a:pPr>
                      <a:r>
                        <a:rPr lang="en-US" sz="2000">
                          <a:effectLst/>
                          <a:latin typeface="Times New Roman" panose="02020603050405020304" pitchFamily="18" charset="0"/>
                          <a:cs typeface="Times New Roman" panose="02020603050405020304" pitchFamily="18" charset="0"/>
                        </a:rPr>
                        <a:t>88,46%</a:t>
                      </a:r>
                    </a:p>
                  </a:txBody>
                  <a:tcPr marL="60960" marR="60960" marT="30480" marB="30480" anchor="ctr"/>
                </a:tc>
                <a:tc>
                  <a:txBody>
                    <a:bodyPr/>
                    <a:lstStyle/>
                    <a:p>
                      <a:pPr algn="ctr">
                        <a:buNone/>
                      </a:pPr>
                      <a:r>
                        <a:rPr lang="en-US" sz="2000">
                          <a:effectLst/>
                          <a:latin typeface="Times New Roman" panose="02020603050405020304" pitchFamily="18" charset="0"/>
                          <a:cs typeface="Times New Roman" panose="02020603050405020304" pitchFamily="18" charset="0"/>
                        </a:rPr>
                        <a:t>88,46%</a:t>
                      </a:r>
                    </a:p>
                  </a:txBody>
                  <a:tcPr marL="60960" marR="60960" marT="30480" marB="30480" anchor="ctr"/>
                </a:tc>
                <a:extLst>
                  <a:ext uri="{0D108BD9-81ED-4DB2-BD59-A6C34878D82A}">
                    <a16:rowId xmlns:a16="http://schemas.microsoft.com/office/drawing/2014/main" val="1338340601"/>
                  </a:ext>
                </a:extLst>
              </a:tr>
              <a:tr h="370840">
                <a:tc>
                  <a:txBody>
                    <a:bodyPr/>
                    <a:lstStyle/>
                    <a:p>
                      <a:pPr algn="ctr">
                        <a:buNone/>
                      </a:pPr>
                      <a:r>
                        <a:rPr lang="en-US" sz="2000">
                          <a:solidFill>
                            <a:srgbClr val="FF0000"/>
                          </a:solidFill>
                          <a:effectLst/>
                          <a:latin typeface="Times New Roman" panose="02020603050405020304" pitchFamily="18" charset="0"/>
                          <a:cs typeface="Times New Roman" panose="02020603050405020304" pitchFamily="18" charset="0"/>
                        </a:rPr>
                        <a:t>SVM (LinearSVC)</a:t>
                      </a:r>
                    </a:p>
                  </a:txBody>
                  <a:tcPr marL="60960" marR="60960" marT="30480" marB="30480" anchor="ctr"/>
                </a:tc>
                <a:tc>
                  <a:txBody>
                    <a:bodyPr/>
                    <a:lstStyle/>
                    <a:p>
                      <a:pPr algn="ctr">
                        <a:buNone/>
                      </a:pPr>
                      <a:r>
                        <a:rPr lang="en-US" sz="2000">
                          <a:solidFill>
                            <a:srgbClr val="FF0000"/>
                          </a:solidFill>
                          <a:effectLst/>
                          <a:latin typeface="Times New Roman" panose="02020603050405020304" pitchFamily="18" charset="0"/>
                          <a:cs typeface="Times New Roman" panose="02020603050405020304" pitchFamily="18" charset="0"/>
                        </a:rPr>
                        <a:t>92,98%</a:t>
                      </a:r>
                    </a:p>
                  </a:txBody>
                  <a:tcPr marL="60960" marR="60960" marT="30480" marB="30480" anchor="ctr"/>
                </a:tc>
                <a:tc>
                  <a:txBody>
                    <a:bodyPr/>
                    <a:lstStyle/>
                    <a:p>
                      <a:pPr algn="ctr">
                        <a:buNone/>
                      </a:pPr>
                      <a:r>
                        <a:rPr lang="en-US" sz="2000">
                          <a:solidFill>
                            <a:srgbClr val="FF0000"/>
                          </a:solidFill>
                          <a:effectLst/>
                          <a:latin typeface="Times New Roman" panose="02020603050405020304" pitchFamily="18" charset="0"/>
                          <a:cs typeface="Times New Roman" panose="02020603050405020304" pitchFamily="18" charset="0"/>
                        </a:rPr>
                        <a:t>91,25%</a:t>
                      </a:r>
                    </a:p>
                  </a:txBody>
                  <a:tcPr marL="60960" marR="60960" marT="30480" marB="30480" anchor="ctr"/>
                </a:tc>
                <a:tc>
                  <a:txBody>
                    <a:bodyPr/>
                    <a:lstStyle/>
                    <a:p>
                      <a:pPr algn="ctr">
                        <a:buNone/>
                      </a:pPr>
                      <a:r>
                        <a:rPr lang="en-US" sz="2000">
                          <a:solidFill>
                            <a:srgbClr val="FF0000"/>
                          </a:solidFill>
                          <a:effectLst/>
                          <a:latin typeface="Times New Roman" panose="02020603050405020304" pitchFamily="18" charset="0"/>
                          <a:cs typeface="Times New Roman" panose="02020603050405020304" pitchFamily="18" charset="0"/>
                        </a:rPr>
                        <a:t>93,58%</a:t>
                      </a:r>
                    </a:p>
                  </a:txBody>
                  <a:tcPr marL="60960" marR="60960" marT="30480" marB="30480" anchor="ctr"/>
                </a:tc>
                <a:tc>
                  <a:txBody>
                    <a:bodyPr/>
                    <a:lstStyle/>
                    <a:p>
                      <a:pPr algn="ctr">
                        <a:buNone/>
                      </a:pPr>
                      <a:r>
                        <a:rPr lang="en-US" sz="2000">
                          <a:solidFill>
                            <a:srgbClr val="FF0000"/>
                          </a:solidFill>
                          <a:effectLst/>
                          <a:latin typeface="Times New Roman" panose="02020603050405020304" pitchFamily="18" charset="0"/>
                          <a:cs typeface="Times New Roman" panose="02020603050405020304" pitchFamily="18" charset="0"/>
                        </a:rPr>
                        <a:t>92,40%</a:t>
                      </a:r>
                    </a:p>
                  </a:txBody>
                  <a:tcPr marL="60960" marR="60960" marT="30480" marB="30480" anchor="ctr"/>
                </a:tc>
                <a:extLst>
                  <a:ext uri="{0D108BD9-81ED-4DB2-BD59-A6C34878D82A}">
                    <a16:rowId xmlns:a16="http://schemas.microsoft.com/office/drawing/2014/main" val="1035975258"/>
                  </a:ext>
                </a:extLst>
              </a:tr>
            </a:tbl>
          </a:graphicData>
        </a:graphic>
      </p:graphicFrame>
      <p:sp>
        <p:nvSpPr>
          <p:cNvPr id="6" name="TextBox 5">
            <a:extLst>
              <a:ext uri="{FF2B5EF4-FFF2-40B4-BE49-F238E27FC236}">
                <a16:creationId xmlns:a16="http://schemas.microsoft.com/office/drawing/2014/main" id="{D87094D1-3700-778C-80F1-9C2D35924FBA}"/>
              </a:ext>
            </a:extLst>
          </p:cNvPr>
          <p:cNvSpPr txBox="1"/>
          <p:nvPr/>
        </p:nvSpPr>
        <p:spPr>
          <a:xfrm>
            <a:off x="324465" y="206477"/>
            <a:ext cx="3121367" cy="553998"/>
          </a:xfrm>
          <a:prstGeom prst="rect">
            <a:avLst/>
          </a:prstGeom>
          <a:noFill/>
        </p:spPr>
        <p:txBody>
          <a:bodyPr wrap="none" rtlCol="0">
            <a:spAutoFit/>
          </a:bodyPr>
          <a:lstStyle/>
          <a:p>
            <a:r>
              <a:rPr lang="en-US" sz="3000" b="1">
                <a:latin typeface="Times New Roman" panose="02020603050405020304" pitchFamily="18" charset="0"/>
                <a:cs typeface="Times New Roman" panose="02020603050405020304" pitchFamily="18" charset="0"/>
              </a:rPr>
              <a:t>Đánh giá mô hình</a:t>
            </a:r>
          </a:p>
        </p:txBody>
      </p:sp>
    </p:spTree>
    <p:extLst>
      <p:ext uri="{BB962C8B-B14F-4D97-AF65-F5344CB8AC3E}">
        <p14:creationId xmlns:p14="http://schemas.microsoft.com/office/powerpoint/2010/main" val="34532101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D56D8-E9A0-408C-C522-B553D0D3DC39}"/>
            </a:ext>
          </a:extLst>
        </p:cNvPr>
        <p:cNvGrpSpPr/>
        <p:nvPr/>
      </p:nvGrpSpPr>
      <p:grpSpPr>
        <a:xfrm>
          <a:off x="0" y="0"/>
          <a:ext cx="0" cy="0"/>
          <a:chOff x="0" y="0"/>
          <a:chExt cx="0" cy="0"/>
        </a:xfrm>
      </p:grpSpPr>
      <p:pic>
        <p:nvPicPr>
          <p:cNvPr id="3" name="Picture 2" descr="A blue rectangular object with white text&#10;&#10;AI-generated content may be incorrect.">
            <a:extLst>
              <a:ext uri="{FF2B5EF4-FFF2-40B4-BE49-F238E27FC236}">
                <a16:creationId xmlns:a16="http://schemas.microsoft.com/office/drawing/2014/main" id="{AEA85781-19B5-2CDA-4DED-8F7489376B0D}"/>
              </a:ext>
            </a:extLst>
          </p:cNvPr>
          <p:cNvPicPr>
            <a:picLocks noChangeAspect="1"/>
          </p:cNvPicPr>
          <p:nvPr/>
        </p:nvPicPr>
        <p:blipFill>
          <a:blip r:embed="rId2"/>
          <a:stretch>
            <a:fillRect/>
          </a:stretch>
        </p:blipFill>
        <p:spPr>
          <a:xfrm>
            <a:off x="2515602" y="1953828"/>
            <a:ext cx="7160796" cy="4652963"/>
          </a:xfrm>
          <a:prstGeom prst="rect">
            <a:avLst/>
          </a:prstGeom>
        </p:spPr>
      </p:pic>
      <p:sp>
        <p:nvSpPr>
          <p:cNvPr id="4" name="TextBox 3">
            <a:extLst>
              <a:ext uri="{FF2B5EF4-FFF2-40B4-BE49-F238E27FC236}">
                <a16:creationId xmlns:a16="http://schemas.microsoft.com/office/drawing/2014/main" id="{6841EBAE-3813-509A-EB8D-E142CF57716A}"/>
              </a:ext>
            </a:extLst>
          </p:cNvPr>
          <p:cNvSpPr txBox="1"/>
          <p:nvPr/>
        </p:nvSpPr>
        <p:spPr>
          <a:xfrm>
            <a:off x="462116" y="432619"/>
            <a:ext cx="2906565" cy="553998"/>
          </a:xfrm>
          <a:prstGeom prst="rect">
            <a:avLst/>
          </a:prstGeom>
          <a:noFill/>
        </p:spPr>
        <p:txBody>
          <a:bodyPr wrap="none" rtlCol="0">
            <a:spAutoFit/>
          </a:bodyPr>
          <a:lstStyle/>
          <a:p>
            <a:r>
              <a:rPr lang="en-US" sz="3000" b="1">
                <a:latin typeface="Times New Roman" panose="02020603050405020304" pitchFamily="18" charset="0"/>
                <a:cs typeface="Times New Roman" panose="02020603050405020304" pitchFamily="18" charset="0"/>
              </a:rPr>
              <a:t>So sánh mô hình</a:t>
            </a:r>
          </a:p>
        </p:txBody>
      </p:sp>
    </p:spTree>
    <p:extLst>
      <p:ext uri="{BB962C8B-B14F-4D97-AF65-F5344CB8AC3E}">
        <p14:creationId xmlns:p14="http://schemas.microsoft.com/office/powerpoint/2010/main" val="26545927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24069-16A0-B2E7-B824-BE02696BD56B}"/>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13D5B1C-543E-FCE6-2DC1-17B93B6355BA}"/>
              </a:ext>
            </a:extLst>
          </p:cNvPr>
          <p:cNvGraphicFramePr>
            <a:graphicFrameLocks noGrp="1"/>
          </p:cNvGraphicFramePr>
          <p:nvPr>
            <p:extLst>
              <p:ext uri="{D42A27DB-BD31-4B8C-83A1-F6EECF244321}">
                <p14:modId xmlns:p14="http://schemas.microsoft.com/office/powerpoint/2010/main" val="2176719577"/>
              </p:ext>
            </p:extLst>
          </p:nvPr>
        </p:nvGraphicFramePr>
        <p:xfrm>
          <a:off x="2360439" y="3429000"/>
          <a:ext cx="6814412" cy="1137920"/>
        </p:xfrm>
        <a:graphic>
          <a:graphicData uri="http://schemas.openxmlformats.org/drawingml/2006/table">
            <a:tbl>
              <a:tblPr firstRow="1" bandRow="1">
                <a:tableStyleId>{5C22544A-7EE6-4342-B048-85BDC9FD1C3A}</a:tableStyleId>
              </a:tblPr>
              <a:tblGrid>
                <a:gridCol w="1703603">
                  <a:extLst>
                    <a:ext uri="{9D8B030D-6E8A-4147-A177-3AD203B41FA5}">
                      <a16:colId xmlns:a16="http://schemas.microsoft.com/office/drawing/2014/main" val="41787900"/>
                    </a:ext>
                  </a:extLst>
                </a:gridCol>
                <a:gridCol w="1703603">
                  <a:extLst>
                    <a:ext uri="{9D8B030D-6E8A-4147-A177-3AD203B41FA5}">
                      <a16:colId xmlns:a16="http://schemas.microsoft.com/office/drawing/2014/main" val="3515343066"/>
                    </a:ext>
                  </a:extLst>
                </a:gridCol>
                <a:gridCol w="1703603">
                  <a:extLst>
                    <a:ext uri="{9D8B030D-6E8A-4147-A177-3AD203B41FA5}">
                      <a16:colId xmlns:a16="http://schemas.microsoft.com/office/drawing/2014/main" val="2767606088"/>
                    </a:ext>
                  </a:extLst>
                </a:gridCol>
                <a:gridCol w="1703603">
                  <a:extLst>
                    <a:ext uri="{9D8B030D-6E8A-4147-A177-3AD203B41FA5}">
                      <a16:colId xmlns:a16="http://schemas.microsoft.com/office/drawing/2014/main" val="4144345812"/>
                    </a:ext>
                  </a:extLst>
                </a:gridCol>
              </a:tblGrid>
              <a:tr h="0">
                <a:tc>
                  <a:txBody>
                    <a:bodyPr/>
                    <a:lstStyle/>
                    <a:p>
                      <a:pPr algn="ctr" fontAlgn="ctr">
                        <a:buNone/>
                      </a:pPr>
                      <a:r>
                        <a:rPr lang="en-US" sz="2000">
                          <a:effectLst/>
                          <a:latin typeface="Times New Roman" panose="02020603050405020304" pitchFamily="18" charset="0"/>
                          <a:cs typeface="Times New Roman" panose="02020603050405020304" pitchFamily="18" charset="0"/>
                        </a:rPr>
                        <a:t>Class</a:t>
                      </a:r>
                    </a:p>
                  </a:txBody>
                  <a:tcPr marL="60960" marR="60960" marT="30480" marB="30480" anchor="ctr"/>
                </a:tc>
                <a:tc>
                  <a:txBody>
                    <a:bodyPr/>
                    <a:lstStyle/>
                    <a:p>
                      <a:pPr algn="ctr" fontAlgn="ctr">
                        <a:buNone/>
                      </a:pPr>
                      <a:r>
                        <a:rPr lang="en-US" sz="2000">
                          <a:effectLst/>
                          <a:latin typeface="Times New Roman" panose="02020603050405020304" pitchFamily="18" charset="0"/>
                          <a:cs typeface="Times New Roman" panose="02020603050405020304" pitchFamily="18" charset="0"/>
                        </a:rPr>
                        <a:t>Precision</a:t>
                      </a:r>
                    </a:p>
                  </a:txBody>
                  <a:tcPr marL="60960" marR="60960" marT="30480" marB="30480" anchor="ctr"/>
                </a:tc>
                <a:tc>
                  <a:txBody>
                    <a:bodyPr/>
                    <a:lstStyle/>
                    <a:p>
                      <a:pPr algn="ctr" fontAlgn="ctr">
                        <a:buNone/>
                      </a:pPr>
                      <a:r>
                        <a:rPr lang="en-US" sz="2000">
                          <a:effectLst/>
                          <a:latin typeface="Times New Roman" panose="02020603050405020304" pitchFamily="18" charset="0"/>
                          <a:cs typeface="Times New Roman" panose="02020603050405020304" pitchFamily="18" charset="0"/>
                        </a:rPr>
                        <a:t>Recall</a:t>
                      </a:r>
                    </a:p>
                  </a:txBody>
                  <a:tcPr marL="60960" marR="60960" marT="30480" marB="30480" anchor="ctr"/>
                </a:tc>
                <a:tc>
                  <a:txBody>
                    <a:bodyPr/>
                    <a:lstStyle/>
                    <a:p>
                      <a:pPr algn="ctr"/>
                      <a:r>
                        <a:rPr lang="en-US" sz="2000">
                          <a:effectLst/>
                          <a:latin typeface="Times New Roman" panose="02020603050405020304" pitchFamily="18" charset="0"/>
                          <a:cs typeface="Times New Roman" panose="02020603050405020304" pitchFamily="18" charset="0"/>
                        </a:rPr>
                        <a:t>F1-score</a:t>
                      </a:r>
                      <a:endParaRPr lang="en-US" sz="2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44274755"/>
                  </a:ext>
                </a:extLst>
              </a:tr>
              <a:tr h="370840">
                <a:tc>
                  <a:txBody>
                    <a:bodyPr/>
                    <a:lstStyle/>
                    <a:p>
                      <a:pPr algn="ctr">
                        <a:buNone/>
                      </a:pPr>
                      <a:r>
                        <a:rPr lang="en-US" sz="2000">
                          <a:effectLst/>
                          <a:latin typeface="Times New Roman" panose="02020603050405020304" pitchFamily="18" charset="0"/>
                          <a:cs typeface="Times New Roman" panose="02020603050405020304" pitchFamily="18" charset="0"/>
                        </a:rPr>
                        <a:t>0</a:t>
                      </a:r>
                    </a:p>
                  </a:txBody>
                  <a:tcPr marL="60960" marR="60960" marT="30480" marB="30480" anchor="ctr"/>
                </a:tc>
                <a:tc>
                  <a:txBody>
                    <a:bodyPr/>
                    <a:lstStyle/>
                    <a:p>
                      <a:pPr algn="ctr">
                        <a:buNone/>
                      </a:pPr>
                      <a:r>
                        <a:rPr lang="en-US" sz="2000">
                          <a:effectLst/>
                          <a:latin typeface="Times New Roman" panose="02020603050405020304" pitchFamily="18" charset="0"/>
                          <a:cs typeface="Times New Roman" panose="02020603050405020304" pitchFamily="18" charset="0"/>
                        </a:rPr>
                        <a:t>100%</a:t>
                      </a:r>
                    </a:p>
                  </a:txBody>
                  <a:tcPr marL="60960" marR="60960" marT="30480" marB="30480" anchor="ctr"/>
                </a:tc>
                <a:tc>
                  <a:txBody>
                    <a:bodyPr/>
                    <a:lstStyle/>
                    <a:p>
                      <a:pPr algn="ctr">
                        <a:buNone/>
                      </a:pPr>
                      <a:r>
                        <a:rPr lang="en-US" sz="2000">
                          <a:effectLst/>
                          <a:latin typeface="Times New Roman" panose="02020603050405020304" pitchFamily="18" charset="0"/>
                          <a:cs typeface="Times New Roman" panose="02020603050405020304" pitchFamily="18" charset="0"/>
                        </a:rPr>
                        <a:t>90%</a:t>
                      </a:r>
                    </a:p>
                  </a:txBody>
                  <a:tcPr marL="60960" marR="60960" marT="30480" marB="30480" anchor="ctr"/>
                </a:tc>
                <a:tc>
                  <a:txBody>
                    <a:bodyPr/>
                    <a:lstStyle/>
                    <a:p>
                      <a:pPr algn="ctr">
                        <a:buNone/>
                      </a:pPr>
                      <a:r>
                        <a:rPr lang="en-US" sz="2000">
                          <a:effectLst/>
                          <a:latin typeface="Times New Roman" panose="02020603050405020304" pitchFamily="18" charset="0"/>
                          <a:cs typeface="Times New Roman" panose="02020603050405020304" pitchFamily="18" charset="0"/>
                        </a:rPr>
                        <a:t>95%</a:t>
                      </a:r>
                    </a:p>
                  </a:txBody>
                  <a:tcPr marL="60960" marR="60960" marT="30480" marB="30480" anchor="ctr"/>
                </a:tc>
                <a:extLst>
                  <a:ext uri="{0D108BD9-81ED-4DB2-BD59-A6C34878D82A}">
                    <a16:rowId xmlns:a16="http://schemas.microsoft.com/office/drawing/2014/main" val="1338340601"/>
                  </a:ext>
                </a:extLst>
              </a:tr>
              <a:tr h="370840">
                <a:tc>
                  <a:txBody>
                    <a:bodyPr/>
                    <a:lstStyle/>
                    <a:p>
                      <a:pPr algn="ctr">
                        <a:buNone/>
                      </a:pPr>
                      <a:r>
                        <a:rPr lang="en-US" sz="2000">
                          <a:solidFill>
                            <a:schemeClr val="tx1"/>
                          </a:solidFill>
                          <a:effectLst/>
                          <a:latin typeface="Times New Roman" panose="02020603050405020304" pitchFamily="18" charset="0"/>
                          <a:cs typeface="Times New Roman" panose="02020603050405020304" pitchFamily="18" charset="0"/>
                        </a:rPr>
                        <a:t>1</a:t>
                      </a:r>
                    </a:p>
                  </a:txBody>
                  <a:tcPr marL="60960" marR="60960" marT="30480" marB="30480" anchor="ctr"/>
                </a:tc>
                <a:tc>
                  <a:txBody>
                    <a:bodyPr/>
                    <a:lstStyle/>
                    <a:p>
                      <a:pPr algn="ctr">
                        <a:buNone/>
                      </a:pPr>
                      <a:r>
                        <a:rPr lang="en-US" sz="2000">
                          <a:solidFill>
                            <a:schemeClr val="tx1"/>
                          </a:solidFill>
                          <a:effectLst/>
                          <a:latin typeface="Times New Roman" panose="02020603050405020304" pitchFamily="18" charset="0"/>
                          <a:cs typeface="Times New Roman" panose="02020603050405020304" pitchFamily="18" charset="0"/>
                        </a:rPr>
                        <a:t>89%</a:t>
                      </a:r>
                    </a:p>
                  </a:txBody>
                  <a:tcPr marL="60960" marR="60960" marT="30480" marB="30480" anchor="ctr"/>
                </a:tc>
                <a:tc>
                  <a:txBody>
                    <a:bodyPr/>
                    <a:lstStyle/>
                    <a:p>
                      <a:pPr algn="ctr">
                        <a:buNone/>
                      </a:pPr>
                      <a:r>
                        <a:rPr lang="en-US" sz="2000">
                          <a:solidFill>
                            <a:schemeClr val="tx1"/>
                          </a:solidFill>
                          <a:effectLst/>
                          <a:latin typeface="Times New Roman" panose="02020603050405020304" pitchFamily="18" charset="0"/>
                          <a:cs typeface="Times New Roman" panose="02020603050405020304" pitchFamily="18" charset="0"/>
                        </a:rPr>
                        <a:t>100%</a:t>
                      </a:r>
                    </a:p>
                  </a:txBody>
                  <a:tcPr marL="60960" marR="60960" marT="30480" marB="30480" anchor="ctr"/>
                </a:tc>
                <a:tc>
                  <a:txBody>
                    <a:bodyPr/>
                    <a:lstStyle/>
                    <a:p>
                      <a:pPr algn="ctr">
                        <a:buNone/>
                      </a:pPr>
                      <a:r>
                        <a:rPr lang="en-US" sz="2000">
                          <a:solidFill>
                            <a:schemeClr val="tx1"/>
                          </a:solidFill>
                          <a:effectLst/>
                          <a:latin typeface="Times New Roman" panose="02020603050405020304" pitchFamily="18" charset="0"/>
                          <a:cs typeface="Times New Roman" panose="02020603050405020304" pitchFamily="18" charset="0"/>
                        </a:rPr>
                        <a:t>94%</a:t>
                      </a:r>
                    </a:p>
                  </a:txBody>
                  <a:tcPr marL="60960" marR="60960" marT="30480" marB="30480" anchor="ctr"/>
                </a:tc>
                <a:extLst>
                  <a:ext uri="{0D108BD9-81ED-4DB2-BD59-A6C34878D82A}">
                    <a16:rowId xmlns:a16="http://schemas.microsoft.com/office/drawing/2014/main" val="1035975258"/>
                  </a:ext>
                </a:extLst>
              </a:tr>
            </a:tbl>
          </a:graphicData>
        </a:graphic>
      </p:graphicFrame>
      <p:sp>
        <p:nvSpPr>
          <p:cNvPr id="6" name="TextBox 5">
            <a:extLst>
              <a:ext uri="{FF2B5EF4-FFF2-40B4-BE49-F238E27FC236}">
                <a16:creationId xmlns:a16="http://schemas.microsoft.com/office/drawing/2014/main" id="{E3426DA6-FAF9-8983-55F6-7B562EDF524D}"/>
              </a:ext>
            </a:extLst>
          </p:cNvPr>
          <p:cNvSpPr txBox="1"/>
          <p:nvPr/>
        </p:nvSpPr>
        <p:spPr>
          <a:xfrm>
            <a:off x="324465" y="206477"/>
            <a:ext cx="4071949" cy="553998"/>
          </a:xfrm>
          <a:prstGeom prst="rect">
            <a:avLst/>
          </a:prstGeom>
          <a:noFill/>
        </p:spPr>
        <p:txBody>
          <a:bodyPr wrap="none" rtlCol="0">
            <a:spAutoFit/>
          </a:bodyPr>
          <a:lstStyle/>
          <a:p>
            <a:r>
              <a:rPr lang="en-US" sz="3000" b="1">
                <a:latin typeface="Times New Roman" panose="02020603050405020304" pitchFamily="18" charset="0"/>
                <a:cs typeface="Times New Roman" panose="02020603050405020304" pitchFamily="18" charset="0"/>
              </a:rPr>
              <a:t>Đánh giá mô hình SVM</a:t>
            </a:r>
          </a:p>
        </p:txBody>
      </p:sp>
      <p:sp>
        <p:nvSpPr>
          <p:cNvPr id="2" name="TextBox 1">
            <a:extLst>
              <a:ext uri="{FF2B5EF4-FFF2-40B4-BE49-F238E27FC236}">
                <a16:creationId xmlns:a16="http://schemas.microsoft.com/office/drawing/2014/main" id="{1089C138-0381-3D7F-E844-BC1A4275F18C}"/>
              </a:ext>
            </a:extLst>
          </p:cNvPr>
          <p:cNvSpPr txBox="1"/>
          <p:nvPr/>
        </p:nvSpPr>
        <p:spPr>
          <a:xfrm>
            <a:off x="383458" y="1238865"/>
            <a:ext cx="2191626" cy="769441"/>
          </a:xfrm>
          <a:prstGeom prst="rect">
            <a:avLst/>
          </a:prstGeom>
          <a:noFill/>
        </p:spPr>
        <p:txBody>
          <a:bodyPr wrap="none" rtlCol="0">
            <a:spAutoFit/>
          </a:bodyPr>
          <a:lstStyle/>
          <a:p>
            <a:r>
              <a:rPr lang="en-US" sz="2200">
                <a:latin typeface="Times New Roman" panose="02020603050405020304" pitchFamily="18" charset="0"/>
                <a:cs typeface="Times New Roman" panose="02020603050405020304" pitchFamily="18" charset="0"/>
              </a:rPr>
              <a:t>Accuracy: 94,4%</a:t>
            </a:r>
          </a:p>
          <a:p>
            <a:r>
              <a:rPr lang="en-US" sz="2200">
                <a:latin typeface="Times New Roman" panose="02020603050405020304" pitchFamily="18" charset="0"/>
                <a:cs typeface="Times New Roman" panose="02020603050405020304" pitchFamily="18" charset="0"/>
              </a:rPr>
              <a:t>F1-score: 94,03%</a:t>
            </a:r>
          </a:p>
        </p:txBody>
      </p:sp>
    </p:spTree>
    <p:extLst>
      <p:ext uri="{BB962C8B-B14F-4D97-AF65-F5344CB8AC3E}">
        <p14:creationId xmlns:p14="http://schemas.microsoft.com/office/powerpoint/2010/main" val="24820639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A833C-570E-96C5-AAEE-2B7DE07C1130}"/>
            </a:ext>
          </a:extLst>
        </p:cNvPr>
        <p:cNvGrpSpPr/>
        <p:nvPr/>
      </p:nvGrpSpPr>
      <p:grpSpPr>
        <a:xfrm>
          <a:off x="0" y="0"/>
          <a:ext cx="0" cy="0"/>
          <a:chOff x="0" y="0"/>
          <a:chExt cx="0" cy="0"/>
        </a:xfrm>
      </p:grpSpPr>
      <p:pic>
        <p:nvPicPr>
          <p:cNvPr id="3" name="Picture 2" descr="A chart of different colored squares&#10;&#10;AI-generated content may be incorrect.">
            <a:extLst>
              <a:ext uri="{FF2B5EF4-FFF2-40B4-BE49-F238E27FC236}">
                <a16:creationId xmlns:a16="http://schemas.microsoft.com/office/drawing/2014/main" id="{29CAEA53-C122-6998-B194-9BFF14CFFC02}"/>
              </a:ext>
            </a:extLst>
          </p:cNvPr>
          <p:cNvPicPr>
            <a:picLocks noChangeAspect="1"/>
          </p:cNvPicPr>
          <p:nvPr/>
        </p:nvPicPr>
        <p:blipFill>
          <a:blip r:embed="rId2"/>
          <a:stretch>
            <a:fillRect/>
          </a:stretch>
        </p:blipFill>
        <p:spPr>
          <a:xfrm>
            <a:off x="2766907" y="1362024"/>
            <a:ext cx="6356996" cy="5283888"/>
          </a:xfrm>
          <a:prstGeom prst="rect">
            <a:avLst/>
          </a:prstGeom>
        </p:spPr>
      </p:pic>
      <p:sp>
        <p:nvSpPr>
          <p:cNvPr id="4" name="TextBox 3">
            <a:extLst>
              <a:ext uri="{FF2B5EF4-FFF2-40B4-BE49-F238E27FC236}">
                <a16:creationId xmlns:a16="http://schemas.microsoft.com/office/drawing/2014/main" id="{D4D33227-A6E5-5E2C-2A52-CC61577885BE}"/>
              </a:ext>
            </a:extLst>
          </p:cNvPr>
          <p:cNvSpPr txBox="1"/>
          <p:nvPr/>
        </p:nvSpPr>
        <p:spPr>
          <a:xfrm>
            <a:off x="381837" y="331596"/>
            <a:ext cx="2635658" cy="477054"/>
          </a:xfrm>
          <a:prstGeom prst="rect">
            <a:avLst/>
          </a:prstGeom>
          <a:noFill/>
        </p:spPr>
        <p:txBody>
          <a:bodyPr wrap="none" rtlCol="0">
            <a:spAutoFit/>
          </a:bodyPr>
          <a:lstStyle/>
          <a:p>
            <a:r>
              <a:rPr lang="en-US" sz="2500" b="1">
                <a:latin typeface="Times New Roman" panose="02020603050405020304" pitchFamily="18" charset="0"/>
                <a:cs typeface="Times New Roman" panose="02020603050405020304" pitchFamily="18" charset="0"/>
              </a:rPr>
              <a:t>Confusion Matrix</a:t>
            </a:r>
          </a:p>
        </p:txBody>
      </p:sp>
    </p:spTree>
    <p:extLst>
      <p:ext uri="{BB962C8B-B14F-4D97-AF65-F5344CB8AC3E}">
        <p14:creationId xmlns:p14="http://schemas.microsoft.com/office/powerpoint/2010/main" val="15232172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0ACEF-C9E8-40DD-996B-42F088C641E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F6055D6-4CC4-58E0-19CD-F4BFBF09642B}"/>
              </a:ext>
            </a:extLst>
          </p:cNvPr>
          <p:cNvSpPr txBox="1"/>
          <p:nvPr/>
        </p:nvSpPr>
        <p:spPr>
          <a:xfrm>
            <a:off x="295076" y="250020"/>
            <a:ext cx="1146468" cy="553998"/>
          </a:xfrm>
          <a:prstGeom prst="rect">
            <a:avLst/>
          </a:prstGeom>
          <a:noFill/>
        </p:spPr>
        <p:txBody>
          <a:bodyPr wrap="none" rtlCol="0">
            <a:spAutoFit/>
          </a:bodyPr>
          <a:lstStyle/>
          <a:p>
            <a:r>
              <a:rPr lang="en-US" sz="3000" b="1">
                <a:latin typeface="Times New Roman" panose="02020603050405020304" pitchFamily="18" charset="0"/>
                <a:cs typeface="Times New Roman" panose="02020603050405020304" pitchFamily="18" charset="0"/>
              </a:rPr>
              <a:t>Demo</a:t>
            </a:r>
          </a:p>
        </p:txBody>
      </p:sp>
      <p:pic>
        <p:nvPicPr>
          <p:cNvPr id="6" name="Picture 5" descr="A screenshot of a computer&#10;&#10;AI-generated content may be incorrect.">
            <a:extLst>
              <a:ext uri="{FF2B5EF4-FFF2-40B4-BE49-F238E27FC236}">
                <a16:creationId xmlns:a16="http://schemas.microsoft.com/office/drawing/2014/main" id="{1E01420F-B6BF-FE29-6EE7-29F65ED61A80}"/>
              </a:ext>
            </a:extLst>
          </p:cNvPr>
          <p:cNvPicPr>
            <a:picLocks noChangeAspect="1"/>
          </p:cNvPicPr>
          <p:nvPr/>
        </p:nvPicPr>
        <p:blipFill>
          <a:blip r:embed="rId2"/>
          <a:stretch>
            <a:fillRect/>
          </a:stretch>
        </p:blipFill>
        <p:spPr>
          <a:xfrm>
            <a:off x="733854" y="1230750"/>
            <a:ext cx="10463684" cy="5218211"/>
          </a:xfrm>
          <a:prstGeom prst="rect">
            <a:avLst/>
          </a:prstGeom>
        </p:spPr>
      </p:pic>
    </p:spTree>
    <p:extLst>
      <p:ext uri="{BB962C8B-B14F-4D97-AF65-F5344CB8AC3E}">
        <p14:creationId xmlns:p14="http://schemas.microsoft.com/office/powerpoint/2010/main" val="36268836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14436-AE29-EAFE-8AD1-DB2261B8674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315A9F-62AE-AB6B-6EEF-E64DE8A54941}"/>
              </a:ext>
            </a:extLst>
          </p:cNvPr>
          <p:cNvSpPr txBox="1"/>
          <p:nvPr/>
        </p:nvSpPr>
        <p:spPr>
          <a:xfrm>
            <a:off x="295076" y="250020"/>
            <a:ext cx="1146468" cy="553998"/>
          </a:xfrm>
          <a:prstGeom prst="rect">
            <a:avLst/>
          </a:prstGeom>
          <a:noFill/>
        </p:spPr>
        <p:txBody>
          <a:bodyPr wrap="none" rtlCol="0">
            <a:spAutoFit/>
          </a:bodyPr>
          <a:lstStyle/>
          <a:p>
            <a:r>
              <a:rPr lang="en-US" sz="3000" b="1">
                <a:latin typeface="Times New Roman" panose="02020603050405020304" pitchFamily="18" charset="0"/>
                <a:cs typeface="Times New Roman" panose="02020603050405020304" pitchFamily="18" charset="0"/>
              </a:rPr>
              <a:t>Demo</a:t>
            </a:r>
          </a:p>
        </p:txBody>
      </p:sp>
      <p:pic>
        <p:nvPicPr>
          <p:cNvPr id="4" name="Picture 3" descr="A screenshot of a computer&#10;&#10;AI-generated content may be incorrect.">
            <a:extLst>
              <a:ext uri="{FF2B5EF4-FFF2-40B4-BE49-F238E27FC236}">
                <a16:creationId xmlns:a16="http://schemas.microsoft.com/office/drawing/2014/main" id="{7CFEF60C-734A-0440-5B5F-2AAD111A7E9A}"/>
              </a:ext>
            </a:extLst>
          </p:cNvPr>
          <p:cNvPicPr>
            <a:picLocks noChangeAspect="1"/>
          </p:cNvPicPr>
          <p:nvPr/>
        </p:nvPicPr>
        <p:blipFill>
          <a:blip r:embed="rId2"/>
          <a:stretch>
            <a:fillRect/>
          </a:stretch>
        </p:blipFill>
        <p:spPr>
          <a:xfrm>
            <a:off x="868310" y="1158902"/>
            <a:ext cx="10041653" cy="5342640"/>
          </a:xfrm>
          <a:prstGeom prst="rect">
            <a:avLst/>
          </a:prstGeom>
        </p:spPr>
      </p:pic>
    </p:spTree>
    <p:extLst>
      <p:ext uri="{BB962C8B-B14F-4D97-AF65-F5344CB8AC3E}">
        <p14:creationId xmlns:p14="http://schemas.microsoft.com/office/powerpoint/2010/main" val="52297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06839-5824-959C-888D-EA2450EE82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7875B89-8DBE-C4D0-4B45-7433730E58D4}"/>
              </a:ext>
            </a:extLst>
          </p:cNvPr>
          <p:cNvSpPr txBox="1"/>
          <p:nvPr/>
        </p:nvSpPr>
        <p:spPr>
          <a:xfrm>
            <a:off x="4699819" y="3075057"/>
            <a:ext cx="2603020" cy="707886"/>
          </a:xfrm>
          <a:prstGeom prst="rect">
            <a:avLst/>
          </a:prstGeom>
          <a:noFill/>
        </p:spPr>
        <p:txBody>
          <a:bodyPr wrap="none" rtlCol="0">
            <a:spAutoFit/>
          </a:bodyPr>
          <a:lstStyle/>
          <a:p>
            <a:r>
              <a:rPr lang="en-US" sz="4000" b="1">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717100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3392</TotalTime>
  <Words>1507</Words>
  <Application>Microsoft Office PowerPoint</Application>
  <PresentationFormat>Widescreen</PresentationFormat>
  <Paragraphs>211</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Aptos</vt:lpstr>
      <vt:lpstr>Aptos Display</vt:lpstr>
      <vt:lpstr>Arial</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Vũ Đăng Khiêm</dc:creator>
  <cp:lastModifiedBy>Vũ Đăng Khiêm</cp:lastModifiedBy>
  <cp:revision>18</cp:revision>
  <dcterms:created xsi:type="dcterms:W3CDTF">2025-12-15T16:45:48Z</dcterms:created>
  <dcterms:modified xsi:type="dcterms:W3CDTF">2025-12-27T04:19:00Z</dcterms:modified>
</cp:coreProperties>
</file>